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0" d="100"/>
          <a:sy n="110"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extLst>
      <p:ext uri="{BB962C8B-B14F-4D97-AF65-F5344CB8AC3E}">
        <p14:creationId xmlns:p14="http://schemas.microsoft.com/office/powerpoint/2010/main" val="3178732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Vehicle Registration System. Contribution percentages follow the team-provided allocation, not a commit audit. Durga Prasad contributed small frontend tasks on 5 October. The presentation date remains 6 October 2026 as requested.</a:t>
            </a:r>
            <a:endParaRPr/>
          </a:p>
          <a:p>
            <a:endParaRPr/>
          </a:p>
          <a:p>
            <a:r>
              <a:t>Design reference: E:/LMS_PPT.pptx. Project source: E:/eclipse-workspace/vehicle-registration-system.</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07471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project demonstrates a new vehicle registration workflow. The problems listed describe the project motivation, not measured results for any government office.</a:t>
            </a:r>
            <a:endParaRPr/>
          </a:p>
          <a:p>
            <a:endParaRPr/>
          </a:p>
          <a:p>
            <a:r>
              <a:t>Design reference: E:/LMS_PPT.pptx. Project source: E:/eclipse-workspace/vehicle-registration-system.</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34369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scope includes new registration, tracking, correction, simulated payment, review, inspection and certificate generation. Prior local verification recorded 18 JUnit integration tests with no failures. Renewal and transfer remain future work.</a:t>
            </a:r>
            <a:endParaRPr/>
          </a:p>
          <a:p>
            <a:endParaRPr/>
          </a:p>
          <a:p>
            <a:r>
              <a:t>Design reference: E:/LMS_PPT.pptx. Project source: E:/eclipse-workspace/vehicle-registration-system.</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78332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pom.xml, frontend/package.json and datasource properties. The React client uses Fetch, not Axios. Built-in state hooks are useState and useEffect, with approved router hooks useNavigate and useParams.</a:t>
            </a:r>
            <a:endParaRPr/>
          </a:p>
          <a:p>
            <a:endParaRPr/>
          </a:p>
          <a:p>
            <a:r>
              <a:t>Design reference: E:/LMS_PPT.pptx. Project source: E:/eclipse-workspace/vehicle-registration-system.</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21002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controller, dto, service, service/impl, repository and entity packages. Service implementations use @Autowired. DTO mapping occurs inside service implementations without a separate mapper layer. Named runtime exceptions use a global exception handler.</a:t>
            </a:r>
            <a:endParaRPr/>
          </a:p>
          <a:p>
            <a:endParaRPr/>
          </a:p>
          <a:p>
            <a:r>
              <a:t>Design reference: E:/LMS_PPT.pptx. Project source: E:/eclipse-workspace/vehicle-registration-system.</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84486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Roles select frontend functionality. The current backend does not enforce role authorization. Owner and RTOEmployee remain separate account entities.</a:t>
            </a:r>
            <a:endParaRPr/>
          </a:p>
          <a:p>
            <a:endParaRPr/>
          </a:p>
          <a:p>
            <a:r>
              <a:t>Design reference: E:/LMS_PPT.pptx. Project source: E:/eclipse-workspace/vehicle-registration-system.</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76116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entity @Table annotations and controller mappings in E:/eclipse-workspace/vehicle-registration-system. The slide lists the tables used for current registration workflows. Review actions share one endpoint with an action field in the request.</a:t>
            </a:r>
            <a:endParaRPr/>
          </a:p>
          <a:p>
            <a:endParaRPr/>
          </a:p>
          <a:p>
            <a:r>
              <a:t>Design reference: E:/LMS_PPT.pptx. Project source: E:/eclipse-workspace/vehicle-registration-system.</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17437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form screenshot uses fictional sample records. Backend approval requires a successful simulated payment and a passed inspection. Corrections return an application for owner resubmission. The generated RC belongs to this project and is not a government-issued certificate.</a:t>
            </a:r>
            <a:endParaRPr/>
          </a:p>
          <a:p>
            <a:endParaRPr/>
          </a:p>
          <a:p>
            <a:r>
              <a:t>Design reference: E:/LMS_PPT.pptx. Project source: E:/eclipse-workspace/vehicle-registration-system.</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99197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proposed enhancements outside the current implementation. Source: agreed future scope from the earlier Vehicle Registration System presentation. Cloud deployment is an additional presentation proposal, not implemented functionality.</a:t>
            </a:r>
            <a:endParaRPr/>
          </a:p>
          <a:p>
            <a:endParaRPr/>
          </a:p>
          <a:p>
            <a:r>
              <a:t>Design reference: E:/LMS_PPT.pptx. Project source: E:/eclipse-workspace/vehicle-registration-system.</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09985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80E7B099-0D79-414D-9840-BE0D0D2E71B1}"/>
              </a:ext>
            </a:extLst>
          </p:cNvPr>
          <p:cNvSpPr>
            <a:spLocks noGrp="1"/>
          </p:cNvSpPr>
          <p:nvPr/>
        </p:nvSpPr>
        <p:spPr>
          <a:xfrm>
            <a:off x="0" y="0"/>
            <a:ext cx="164592" cy="5143500"/>
          </a:xfrm>
          <a:prstGeom prst="rect">
            <a:avLst/>
          </a:prstGeom>
          <a:solidFill>
            <a:srgbClr val="047857"/>
          </a:solidFill>
        </p:spPr>
        <p:txBody>
          <a:bodyPr/>
          <a:lstStyle/>
          <a:p>
            <a:endParaRPr/>
          </a:p>
        </p:txBody>
      </p:sp>
      <p:sp>
        <p:nvSpPr>
          <p:cNvPr id="4" name="Text 1">
            <a:extLst>
              <a:ext uri="{FF2B5EF4-FFF2-40B4-BE49-F238E27FC236}">
                <a16:creationId xmlns:a16="http://schemas.microsoft.com/office/drawing/2014/main" xmlns="" id="{8F6E4801-829F-4AB0-B462-5BC8F88A35E0}"/>
              </a:ext>
            </a:extLst>
          </p:cNvPr>
          <p:cNvSpPr>
            <a:spLocks noGrp="1"/>
          </p:cNvSpPr>
          <p:nvPr/>
        </p:nvSpPr>
        <p:spPr>
          <a:xfrm>
            <a:off x="548640" y="1234440"/>
            <a:ext cx="8046720" cy="822960"/>
          </a:xfrm>
          <a:prstGeom prst="rect">
            <a:avLst/>
          </a:prstGeom>
          <a:noFill/>
        </p:spPr>
        <p:txBody>
          <a:bodyPr wrap="square" lIns="0" tIns="0" rIns="0" bIns="0" anchor="ctr"/>
          <a:lstStyle/>
          <a:p>
            <a:pPr marL="0" indent="0" algn="ctr">
              <a:buNone/>
            </a:pPr>
            <a:r>
              <a:rPr sz="4000" b="1">
                <a:solidFill>
                  <a:srgbClr val="1F2937"/>
                </a:solidFill>
              </a:rPr>
              <a:t>Vehicle Registration System</a:t>
            </a:r>
            <a:endParaRPr sz="4000"/>
          </a:p>
        </p:txBody>
      </p:sp>
      <p:sp>
        <p:nvSpPr>
          <p:cNvPr id="5" name="Text 2">
            <a:extLst>
              <a:ext uri="{FF2B5EF4-FFF2-40B4-BE49-F238E27FC236}">
                <a16:creationId xmlns:a16="http://schemas.microsoft.com/office/drawing/2014/main" xmlns="" id="{2ED65239-CFC6-478B-8F2C-310411F75162}"/>
              </a:ext>
            </a:extLst>
          </p:cNvPr>
          <p:cNvSpPr>
            <a:spLocks noGrp="1"/>
          </p:cNvSpPr>
          <p:nvPr/>
        </p:nvSpPr>
        <p:spPr>
          <a:xfrm>
            <a:off x="548640" y="2057400"/>
            <a:ext cx="8046720" cy="365760"/>
          </a:xfrm>
          <a:prstGeom prst="rect">
            <a:avLst/>
          </a:prstGeom>
          <a:noFill/>
        </p:spPr>
        <p:txBody>
          <a:bodyPr wrap="square" lIns="0" tIns="0" rIns="0" bIns="0" anchor="ctr"/>
          <a:lstStyle/>
          <a:p>
            <a:pPr marL="0" indent="0" algn="ctr">
              <a:buNone/>
            </a:pPr>
            <a:r>
              <a:rPr sz="1600">
                <a:solidFill>
                  <a:srgbClr val="047857"/>
                </a:solidFill>
              </a:rPr>
              <a:t>Full Stack Web Application with React, Spring Boot and MySQL</a:t>
            </a:r>
            <a:endParaRPr sz="1600"/>
          </a:p>
        </p:txBody>
      </p:sp>
      <p:sp>
        <p:nvSpPr>
          <p:cNvPr id="6" name="Text 3">
            <a:extLst>
              <a:ext uri="{FF2B5EF4-FFF2-40B4-BE49-F238E27FC236}">
                <a16:creationId xmlns:a16="http://schemas.microsoft.com/office/drawing/2014/main" xmlns="" id="{BDF65F1D-F62B-4C43-BECC-E4FD5DB5C38C}"/>
              </a:ext>
            </a:extLst>
          </p:cNvPr>
          <p:cNvSpPr>
            <a:spLocks noGrp="1"/>
          </p:cNvSpPr>
          <p:nvPr/>
        </p:nvSpPr>
        <p:spPr>
          <a:xfrm>
            <a:off x="914400" y="2743200"/>
            <a:ext cx="2743200" cy="365760"/>
          </a:xfrm>
          <a:prstGeom prst="rect">
            <a:avLst/>
          </a:prstGeom>
          <a:noFill/>
        </p:spPr>
        <p:txBody>
          <a:bodyPr wrap="square" lIns="0" tIns="0" rIns="0" bIns="0" anchor="ctr"/>
          <a:lstStyle/>
          <a:p>
            <a:pPr marL="0" indent="0">
              <a:buNone/>
            </a:pPr>
            <a:r>
              <a:rPr sz="2000" b="1">
                <a:solidFill>
                  <a:srgbClr val="1F2937"/>
                </a:solidFill>
              </a:rPr>
              <a:t>Team</a:t>
            </a:r>
            <a:endParaRPr sz="2000"/>
          </a:p>
        </p:txBody>
      </p:sp>
      <p:sp>
        <p:nvSpPr>
          <p:cNvPr id="7" name="Text 4">
            <a:extLst>
              <a:ext uri="{FF2B5EF4-FFF2-40B4-BE49-F238E27FC236}">
                <a16:creationId xmlns:a16="http://schemas.microsoft.com/office/drawing/2014/main" xmlns="" id="{1E3AAEE0-D4B2-4F9A-BBAB-F1EDF68800A6}"/>
              </a:ext>
            </a:extLst>
          </p:cNvPr>
          <p:cNvSpPr>
            <a:spLocks noGrp="1"/>
          </p:cNvSpPr>
          <p:nvPr/>
        </p:nvSpPr>
        <p:spPr>
          <a:xfrm>
            <a:off x="914400" y="3154680"/>
            <a:ext cx="3657600" cy="1280160"/>
          </a:xfrm>
          <a:prstGeom prst="rect">
            <a:avLst/>
          </a:prstGeom>
          <a:noFill/>
        </p:spPr>
        <p:txBody>
          <a:bodyPr wrap="square" lIns="0" tIns="0" rIns="0" bIns="0" anchor="ctr"/>
          <a:lstStyle/>
          <a:p>
            <a:pPr marL="342900" indent="-342900">
              <a:spcAft>
                <a:spcPts val="400"/>
              </a:spcAft>
              <a:buSzPct val="100000"/>
              <a:buFont typeface="+mj-lt"/>
              <a:buAutoNum type="arabicPeriod"/>
            </a:pPr>
            <a:r>
              <a:rPr sz="1600" dirty="0" err="1">
                <a:solidFill>
                  <a:srgbClr val="1F2937"/>
                </a:solidFill>
              </a:rPr>
              <a:t>Sadhna</a:t>
            </a:r>
            <a:r>
              <a:rPr sz="1600" dirty="0">
                <a:solidFill>
                  <a:srgbClr val="1F2937"/>
                </a:solidFill>
              </a:rPr>
              <a:t> Gupta </a:t>
            </a:r>
            <a:endParaRPr sz="1600" dirty="0"/>
          </a:p>
          <a:p>
            <a:pPr marL="342900" indent="-342900">
              <a:spcAft>
                <a:spcPts val="400"/>
              </a:spcAft>
              <a:buSzPct val="100000"/>
              <a:buFont typeface="+mj-lt"/>
              <a:buAutoNum type="arabicPeriod"/>
            </a:pPr>
            <a:r>
              <a:rPr sz="1600" dirty="0" err="1">
                <a:solidFill>
                  <a:srgbClr val="1F2937"/>
                </a:solidFill>
              </a:rPr>
              <a:t>Dharmendra</a:t>
            </a:r>
            <a:r>
              <a:rPr sz="1600" dirty="0">
                <a:solidFill>
                  <a:srgbClr val="1F2937"/>
                </a:solidFill>
              </a:rPr>
              <a:t> </a:t>
            </a:r>
          </a:p>
          <a:p>
            <a:pPr marL="342900" indent="-342900">
              <a:spcAft>
                <a:spcPts val="400"/>
              </a:spcAft>
              <a:buSzPct val="100000"/>
              <a:buFont typeface="+mj-lt"/>
              <a:buAutoNum type="arabicPeriod"/>
            </a:pPr>
            <a:r>
              <a:rPr sz="1600" dirty="0" err="1">
                <a:solidFill>
                  <a:srgbClr val="1F2937"/>
                </a:solidFill>
              </a:rPr>
              <a:t>Yogesh</a:t>
            </a:r>
            <a:r>
              <a:rPr sz="1600" dirty="0">
                <a:solidFill>
                  <a:srgbClr val="1F2937"/>
                </a:solidFill>
              </a:rPr>
              <a:t> </a:t>
            </a:r>
            <a:endParaRPr lang="en-US" sz="1600" dirty="0">
              <a:solidFill>
                <a:srgbClr val="1F2937"/>
              </a:solidFill>
            </a:endParaRPr>
          </a:p>
          <a:p>
            <a:pPr marL="342900" indent="-342900">
              <a:spcAft>
                <a:spcPts val="400"/>
              </a:spcAft>
              <a:buSzPct val="100000"/>
              <a:buFont typeface="+mj-lt"/>
              <a:buAutoNum type="arabicPeriod"/>
            </a:pPr>
            <a:r>
              <a:rPr sz="1600" dirty="0" err="1" smtClean="0">
                <a:solidFill>
                  <a:srgbClr val="1F2937"/>
                </a:solidFill>
              </a:rPr>
              <a:t>Durga</a:t>
            </a:r>
            <a:r>
              <a:rPr sz="1600" dirty="0" smtClean="0">
                <a:solidFill>
                  <a:srgbClr val="1F2937"/>
                </a:solidFill>
              </a:rPr>
              <a:t> </a:t>
            </a:r>
            <a:r>
              <a:rPr sz="1600" dirty="0">
                <a:solidFill>
                  <a:srgbClr val="1F2937"/>
                </a:solidFill>
              </a:rPr>
              <a:t>Prasad </a:t>
            </a:r>
          </a:p>
        </p:txBody>
      </p:sp>
      <p:sp>
        <p:nvSpPr>
          <p:cNvPr id="8" name="Text 5">
            <a:extLst>
              <a:ext uri="{FF2B5EF4-FFF2-40B4-BE49-F238E27FC236}">
                <a16:creationId xmlns:a16="http://schemas.microsoft.com/office/drawing/2014/main" xmlns="" id="{9560A248-2F23-4C5D-8F70-35FB690318A6}"/>
              </a:ext>
            </a:extLst>
          </p:cNvPr>
          <p:cNvSpPr>
            <a:spLocks noGrp="1"/>
          </p:cNvSpPr>
          <p:nvPr/>
        </p:nvSpPr>
        <p:spPr>
          <a:xfrm>
            <a:off x="5669280" y="2743200"/>
            <a:ext cx="3017520" cy="914400"/>
          </a:xfrm>
          <a:prstGeom prst="rect">
            <a:avLst/>
          </a:prstGeom>
          <a:noFill/>
        </p:spPr>
        <p:txBody>
          <a:bodyPr wrap="square" lIns="0" tIns="0" rIns="0" bIns="0" anchor="ctr"/>
          <a:lstStyle/>
          <a:p>
            <a:pPr marL="0" indent="0">
              <a:buNone/>
            </a:pPr>
            <a:r>
              <a:rPr lang="en-US" sz="2000" b="1" dirty="0" smtClean="0">
                <a:solidFill>
                  <a:srgbClr val="1F2937"/>
                </a:solidFill>
              </a:rPr>
              <a:t>Trainer </a:t>
            </a:r>
          </a:p>
          <a:p>
            <a:pPr marL="0" indent="0">
              <a:buNone/>
            </a:pPr>
            <a:r>
              <a:rPr lang="en-US" sz="2000" dirty="0" err="1" smtClean="0">
                <a:solidFill>
                  <a:srgbClr val="1F2937"/>
                </a:solidFill>
              </a:rPr>
              <a:t>Mallikarjun</a:t>
            </a:r>
            <a:endParaRPr sz="2000" dirty="0"/>
          </a:p>
        </p:txBody>
      </p:sp>
    </p:spTree>
    <p:extLst>
      <p:ext uri="{BB962C8B-B14F-4D97-AF65-F5344CB8AC3E}">
        <p14:creationId xmlns:p14="http://schemas.microsoft.com/office/powerpoint/2010/main" val="1490802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3B65C32E-D5B8-4332-8773-F0786D6FA254}"/>
              </a:ext>
            </a:extLst>
          </p:cNvPr>
          <p:cNvSpPr>
            <a:spLocks noGrp="1"/>
          </p:cNvSpPr>
          <p:nvPr/>
        </p:nvSpPr>
        <p:spPr>
          <a:xfrm>
            <a:off x="0" y="0"/>
            <a:ext cx="164592" cy="5143500"/>
          </a:xfrm>
          <a:prstGeom prst="rect">
            <a:avLst/>
          </a:prstGeom>
          <a:solidFill>
            <a:srgbClr val="047857"/>
          </a:solidFill>
        </p:spPr>
        <p:txBody>
          <a:bodyPr/>
          <a:lstStyle/>
          <a:p>
            <a:endParaRPr/>
          </a:p>
        </p:txBody>
      </p:sp>
      <p:sp>
        <p:nvSpPr>
          <p:cNvPr id="3" name="Text 1">
            <a:extLst>
              <a:ext uri="{FF2B5EF4-FFF2-40B4-BE49-F238E27FC236}">
                <a16:creationId xmlns:a16="http://schemas.microsoft.com/office/drawing/2014/main" xmlns="" id="{E6A192ED-C407-4E39-8DC4-0C1BE36B89F1}"/>
              </a:ext>
            </a:extLst>
          </p:cNvPr>
          <p:cNvSpPr>
            <a:spLocks noGrp="1"/>
          </p:cNvSpPr>
          <p:nvPr/>
        </p:nvSpPr>
        <p:spPr>
          <a:xfrm>
            <a:off x="548640" y="274320"/>
            <a:ext cx="8046720" cy="548640"/>
          </a:xfrm>
          <a:prstGeom prst="rect">
            <a:avLst/>
          </a:prstGeom>
          <a:noFill/>
        </p:spPr>
        <p:txBody>
          <a:bodyPr wrap="square" lIns="0" tIns="0" rIns="0" bIns="0" anchor="ctr"/>
          <a:lstStyle/>
          <a:p>
            <a:pPr marL="0" indent="0">
              <a:buNone/>
            </a:pPr>
            <a:r>
              <a:rPr sz="2800" b="1">
                <a:solidFill>
                  <a:srgbClr val="047857"/>
                </a:solidFill>
              </a:rPr>
              <a:t>Introduction &amp; Problem Statement</a:t>
            </a:r>
            <a:endParaRPr sz="2800"/>
          </a:p>
        </p:txBody>
      </p:sp>
      <p:sp>
        <p:nvSpPr>
          <p:cNvPr id="4" name="Shape 2">
            <a:extLst>
              <a:ext uri="{FF2B5EF4-FFF2-40B4-BE49-F238E27FC236}">
                <a16:creationId xmlns:a16="http://schemas.microsoft.com/office/drawing/2014/main" xmlns="" id="{7617FA42-67C7-4409-A530-AA13A75742A4}"/>
              </a:ext>
            </a:extLst>
          </p:cNvPr>
          <p:cNvSpPr>
            <a:spLocks noGrp="1"/>
          </p:cNvSpPr>
          <p:nvPr/>
        </p:nvSpPr>
        <p:spPr>
          <a:xfrm>
            <a:off x="548640" y="868680"/>
            <a:ext cx="1097280" cy="0"/>
          </a:xfrm>
          <a:prstGeom prst="line">
            <a:avLst/>
          </a:prstGeom>
          <a:noFill/>
          <a:ln w="38100">
            <a:solidFill>
              <a:srgbClr val="34D399"/>
            </a:solidFill>
            <a:prstDash val="solid"/>
          </a:ln>
        </p:spPr>
        <p:txBody>
          <a:bodyPr/>
          <a:lstStyle/>
          <a:p>
            <a:endParaRPr/>
          </a:p>
        </p:txBody>
      </p:sp>
      <p:sp>
        <p:nvSpPr>
          <p:cNvPr id="5" name="Text 3">
            <a:extLst>
              <a:ext uri="{FF2B5EF4-FFF2-40B4-BE49-F238E27FC236}">
                <a16:creationId xmlns:a16="http://schemas.microsoft.com/office/drawing/2014/main" xmlns="" id="{1606407E-83A7-4F66-B82C-2D3B49C9A206}"/>
              </a:ext>
            </a:extLst>
          </p:cNvPr>
          <p:cNvSpPr>
            <a:spLocks noGrp="1"/>
          </p:cNvSpPr>
          <p:nvPr/>
        </p:nvSpPr>
        <p:spPr>
          <a:xfrm>
            <a:off x="548640" y="4754880"/>
            <a:ext cx="4572000" cy="274320"/>
          </a:xfrm>
          <a:prstGeom prst="rect">
            <a:avLst/>
          </a:prstGeom>
          <a:noFill/>
        </p:spPr>
        <p:txBody>
          <a:bodyPr wrap="square" lIns="0" tIns="0" rIns="0" bIns="0" anchor="ctr"/>
          <a:lstStyle/>
          <a:p>
            <a:pPr marL="0" indent="0">
              <a:buNone/>
            </a:pPr>
            <a:r>
              <a:rPr sz="1100">
                <a:solidFill>
                  <a:srgbClr val="6B7280"/>
                </a:solidFill>
              </a:rPr>
              <a:t>Vehicle Registration System</a:t>
            </a:r>
            <a:endParaRPr sz="1100"/>
          </a:p>
        </p:txBody>
      </p:sp>
      <p:sp>
        <p:nvSpPr>
          <p:cNvPr id="6" name="Text 4">
            <a:extLst>
              <a:ext uri="{FF2B5EF4-FFF2-40B4-BE49-F238E27FC236}">
                <a16:creationId xmlns:a16="http://schemas.microsoft.com/office/drawing/2014/main" xmlns="" id="{18863E18-803A-4294-81CB-69ED252F6578}"/>
              </a:ext>
            </a:extLst>
          </p:cNvPr>
          <p:cNvSpPr>
            <a:spLocks noGrp="1"/>
          </p:cNvSpPr>
          <p:nvPr/>
        </p:nvSpPr>
        <p:spPr>
          <a:xfrm>
            <a:off x="8229600" y="4754880"/>
            <a:ext cx="457200" cy="274320"/>
          </a:xfrm>
          <a:prstGeom prst="rect">
            <a:avLst/>
          </a:prstGeom>
          <a:noFill/>
        </p:spPr>
        <p:txBody>
          <a:bodyPr wrap="square" lIns="0" tIns="0" rIns="0" bIns="0" anchor="ctr"/>
          <a:lstStyle/>
          <a:p>
            <a:pPr marL="0" indent="0" algn="r">
              <a:buNone/>
            </a:pPr>
            <a:r>
              <a:rPr sz="1100">
                <a:solidFill>
                  <a:srgbClr val="6B7280"/>
                </a:solidFill>
              </a:rPr>
              <a:t>2</a:t>
            </a:r>
            <a:endParaRPr sz="1100"/>
          </a:p>
        </p:txBody>
      </p:sp>
      <p:sp>
        <p:nvSpPr>
          <p:cNvPr id="7" name="Shape 5">
            <a:extLst>
              <a:ext uri="{FF2B5EF4-FFF2-40B4-BE49-F238E27FC236}">
                <a16:creationId xmlns:a16="http://schemas.microsoft.com/office/drawing/2014/main" xmlns="" id="{03E01DEC-0A3A-413A-B2E4-4CC62399FCEB}"/>
              </a:ext>
            </a:extLst>
          </p:cNvPr>
          <p:cNvSpPr>
            <a:spLocks noGrp="1"/>
          </p:cNvSpPr>
          <p:nvPr/>
        </p:nvSpPr>
        <p:spPr>
          <a:xfrm>
            <a:off x="548640" y="1097280"/>
            <a:ext cx="3840480" cy="3474720"/>
          </a:xfrm>
          <a:prstGeom prst="roundRect">
            <a:avLst>
              <a:gd name="adj" fmla="val 2105"/>
            </a:avLst>
          </a:prstGeom>
          <a:solidFill>
            <a:srgbClr val="ECFDF5"/>
          </a:solidFill>
          <a:ln w="12700">
            <a:solidFill>
              <a:srgbClr val="A7F3D0"/>
            </a:solidFill>
            <a:prstDash val="solid"/>
          </a:ln>
        </p:spPr>
        <p:txBody>
          <a:bodyPr/>
          <a:lstStyle/>
          <a:p>
            <a:endParaRPr/>
          </a:p>
        </p:txBody>
      </p:sp>
      <p:sp>
        <p:nvSpPr>
          <p:cNvPr id="8" name="Text 6">
            <a:extLst>
              <a:ext uri="{FF2B5EF4-FFF2-40B4-BE49-F238E27FC236}">
                <a16:creationId xmlns:a16="http://schemas.microsoft.com/office/drawing/2014/main" xmlns="" id="{8C78CA4C-7A79-4049-82E6-E1B364FA6482}"/>
              </a:ext>
            </a:extLst>
          </p:cNvPr>
          <p:cNvSpPr>
            <a:spLocks noGrp="1"/>
          </p:cNvSpPr>
          <p:nvPr/>
        </p:nvSpPr>
        <p:spPr>
          <a:xfrm>
            <a:off x="731520" y="1207008"/>
            <a:ext cx="3474720" cy="365760"/>
          </a:xfrm>
          <a:prstGeom prst="rect">
            <a:avLst/>
          </a:prstGeom>
          <a:noFill/>
        </p:spPr>
        <p:txBody>
          <a:bodyPr wrap="square" lIns="0" tIns="0" rIns="0" bIns="0" anchor="ctr"/>
          <a:lstStyle/>
          <a:p>
            <a:pPr marL="0" indent="0">
              <a:buNone/>
            </a:pPr>
            <a:r>
              <a:rPr sz="1700" b="1">
                <a:solidFill>
                  <a:srgbClr val="047857"/>
                </a:solidFill>
              </a:rPr>
              <a:t>What is the project?</a:t>
            </a:r>
            <a:endParaRPr sz="1700"/>
          </a:p>
        </p:txBody>
      </p:sp>
      <p:sp>
        <p:nvSpPr>
          <p:cNvPr id="9" name="Text 7">
            <a:extLst>
              <a:ext uri="{FF2B5EF4-FFF2-40B4-BE49-F238E27FC236}">
                <a16:creationId xmlns:a16="http://schemas.microsoft.com/office/drawing/2014/main" xmlns="" id="{373744D2-BF97-444F-8C22-AEED976AE8BA}"/>
              </a:ext>
            </a:extLst>
          </p:cNvPr>
          <p:cNvSpPr>
            <a:spLocks noGrp="1"/>
          </p:cNvSpPr>
          <p:nvPr/>
        </p:nvSpPr>
        <p:spPr>
          <a:xfrm>
            <a:off x="731520" y="1627632"/>
            <a:ext cx="3474720" cy="2834640"/>
          </a:xfrm>
          <a:prstGeom prst="rect">
            <a:avLst/>
          </a:prstGeom>
          <a:noFill/>
        </p:spPr>
        <p:txBody>
          <a:bodyPr wrap="square" lIns="0" tIns="0" rIns="0" bIns="0" anchor="t"/>
          <a:lstStyle/>
          <a:p>
            <a:pPr marL="342900" indent="-342900">
              <a:spcAft>
                <a:spcPts val="600"/>
              </a:spcAft>
              <a:buSzPct val="100000"/>
              <a:buChar char="•"/>
            </a:pPr>
            <a:r>
              <a:rPr sz="1500" dirty="0">
                <a:solidFill>
                  <a:srgbClr val="1F2937"/>
                </a:solidFill>
              </a:rPr>
              <a:t>A web application for new vehicle registration</a:t>
            </a:r>
            <a:endParaRPr sz="1500" dirty="0"/>
          </a:p>
          <a:p>
            <a:pPr marL="342900" indent="-342900">
              <a:spcAft>
                <a:spcPts val="600"/>
              </a:spcAft>
              <a:buSzPct val="100000"/>
              <a:buChar char="•"/>
            </a:pPr>
            <a:r>
              <a:rPr sz="1500" dirty="0">
                <a:solidFill>
                  <a:srgbClr val="1F2937"/>
                </a:solidFill>
              </a:rPr>
              <a:t>Owner and RTO employee workspaces</a:t>
            </a:r>
          </a:p>
          <a:p>
            <a:pPr marL="342900" indent="-342900">
              <a:spcAft>
                <a:spcPts val="600"/>
              </a:spcAft>
              <a:buSzPct val="100000"/>
              <a:buChar char="•"/>
            </a:pPr>
            <a:r>
              <a:rPr sz="1500" dirty="0">
                <a:solidFill>
                  <a:srgbClr val="1F2937"/>
                </a:solidFill>
              </a:rPr>
              <a:t>Online applications with reference </a:t>
            </a:r>
            <a:r>
              <a:rPr sz="1500" dirty="0" smtClean="0">
                <a:solidFill>
                  <a:srgbClr val="1F2937"/>
                </a:solidFill>
              </a:rPr>
              <a:t>tracking</a:t>
            </a:r>
            <a:endParaRPr lang="en-US" sz="1500" dirty="0" smtClean="0">
              <a:solidFill>
                <a:srgbClr val="1F2937"/>
              </a:solidFill>
            </a:endParaRPr>
          </a:p>
          <a:p>
            <a:pPr marL="342900" indent="-342900">
              <a:spcAft>
                <a:spcPts val="600"/>
              </a:spcAft>
              <a:buSzPct val="100000"/>
              <a:buChar char="•"/>
            </a:pPr>
            <a:r>
              <a:rPr lang="en-US" sz="1500" dirty="0" smtClean="0">
                <a:solidFill>
                  <a:srgbClr val="1F2937"/>
                </a:solidFill>
              </a:rPr>
              <a:t>Renewal and Transfer Application</a:t>
            </a:r>
            <a:endParaRPr sz="1500" dirty="0">
              <a:solidFill>
                <a:srgbClr val="1F2937"/>
              </a:solidFill>
            </a:endParaRPr>
          </a:p>
        </p:txBody>
      </p:sp>
      <p:sp>
        <p:nvSpPr>
          <p:cNvPr id="10" name="Shape 8">
            <a:extLst>
              <a:ext uri="{FF2B5EF4-FFF2-40B4-BE49-F238E27FC236}">
                <a16:creationId xmlns:a16="http://schemas.microsoft.com/office/drawing/2014/main" xmlns="" id="{C24805F8-2278-4293-9898-BCE74E2DCC38}"/>
              </a:ext>
            </a:extLst>
          </p:cNvPr>
          <p:cNvSpPr>
            <a:spLocks noGrp="1"/>
          </p:cNvSpPr>
          <p:nvPr/>
        </p:nvSpPr>
        <p:spPr>
          <a:xfrm>
            <a:off x="4572000" y="1097280"/>
            <a:ext cx="4023360" cy="3474720"/>
          </a:xfrm>
          <a:prstGeom prst="roundRect">
            <a:avLst>
              <a:gd name="adj" fmla="val 2105"/>
            </a:avLst>
          </a:prstGeom>
          <a:solidFill>
            <a:srgbClr val="ECFDF5"/>
          </a:solidFill>
          <a:ln w="12700">
            <a:solidFill>
              <a:srgbClr val="A7F3D0"/>
            </a:solidFill>
            <a:prstDash val="solid"/>
          </a:ln>
        </p:spPr>
        <p:txBody>
          <a:bodyPr/>
          <a:lstStyle/>
          <a:p>
            <a:endParaRPr/>
          </a:p>
        </p:txBody>
      </p:sp>
      <p:sp>
        <p:nvSpPr>
          <p:cNvPr id="11" name="Text 9">
            <a:extLst>
              <a:ext uri="{FF2B5EF4-FFF2-40B4-BE49-F238E27FC236}">
                <a16:creationId xmlns:a16="http://schemas.microsoft.com/office/drawing/2014/main" xmlns="" id="{11120197-EC77-4676-B976-F1EA223126B0}"/>
              </a:ext>
            </a:extLst>
          </p:cNvPr>
          <p:cNvSpPr>
            <a:spLocks noGrp="1"/>
          </p:cNvSpPr>
          <p:nvPr/>
        </p:nvSpPr>
        <p:spPr>
          <a:xfrm>
            <a:off x="4754880" y="1207008"/>
            <a:ext cx="3657600" cy="365760"/>
          </a:xfrm>
          <a:prstGeom prst="rect">
            <a:avLst/>
          </a:prstGeom>
          <a:noFill/>
        </p:spPr>
        <p:txBody>
          <a:bodyPr wrap="square" lIns="0" tIns="0" rIns="0" bIns="0" anchor="ctr"/>
          <a:lstStyle/>
          <a:p>
            <a:pPr marL="0" indent="0">
              <a:buNone/>
            </a:pPr>
            <a:r>
              <a:rPr sz="1700" b="1">
                <a:solidFill>
                  <a:srgbClr val="047857"/>
                </a:solidFill>
              </a:rPr>
              <a:t>Problems addressed</a:t>
            </a:r>
            <a:endParaRPr sz="1700"/>
          </a:p>
        </p:txBody>
      </p:sp>
      <p:sp>
        <p:nvSpPr>
          <p:cNvPr id="12" name="Text 10">
            <a:extLst>
              <a:ext uri="{FF2B5EF4-FFF2-40B4-BE49-F238E27FC236}">
                <a16:creationId xmlns:a16="http://schemas.microsoft.com/office/drawing/2014/main" xmlns="" id="{382B27DB-F97F-4C51-92B2-FB43B0602B7A}"/>
              </a:ext>
            </a:extLst>
          </p:cNvPr>
          <p:cNvSpPr>
            <a:spLocks noGrp="1"/>
          </p:cNvSpPr>
          <p:nvPr/>
        </p:nvSpPr>
        <p:spPr>
          <a:xfrm>
            <a:off x="4754880" y="1627632"/>
            <a:ext cx="3657600" cy="2834640"/>
          </a:xfrm>
          <a:prstGeom prst="rect">
            <a:avLst/>
          </a:prstGeom>
          <a:noFill/>
        </p:spPr>
        <p:txBody>
          <a:bodyPr wrap="square" lIns="0" tIns="0" rIns="0" bIns="0" anchor="t"/>
          <a:lstStyle/>
          <a:p>
            <a:pPr marL="342900" indent="-342900">
              <a:spcAft>
                <a:spcPts val="600"/>
              </a:spcAft>
              <a:buSzPct val="100000"/>
              <a:buChar char="•"/>
            </a:pPr>
            <a:r>
              <a:rPr sz="1500">
                <a:solidFill>
                  <a:srgbClr val="1F2937"/>
                </a:solidFill>
              </a:rPr>
              <a:t>Scattered owner and vehicle details</a:t>
            </a:r>
            <a:endParaRPr sz="1500"/>
          </a:p>
          <a:p>
            <a:pPr marL="342900" indent="-342900">
              <a:spcAft>
                <a:spcPts val="600"/>
              </a:spcAft>
              <a:buSzPct val="100000"/>
              <a:buChar char="•"/>
            </a:pPr>
            <a:r>
              <a:rPr sz="1500">
                <a:solidFill>
                  <a:srgbClr val="1F2937"/>
                </a:solidFill>
              </a:rPr>
              <a:t>Unclear application progress</a:t>
            </a:r>
          </a:p>
          <a:p>
            <a:pPr marL="342900" indent="-342900">
              <a:spcAft>
                <a:spcPts val="600"/>
              </a:spcAft>
              <a:buSzPct val="100000"/>
              <a:buChar char="•"/>
            </a:pPr>
            <a:r>
              <a:rPr sz="1500">
                <a:solidFill>
                  <a:srgbClr val="1F2937"/>
                </a:solidFill>
              </a:rPr>
              <a:t>Repeated corrections and follow-up</a:t>
            </a:r>
          </a:p>
          <a:p>
            <a:pPr marL="342900" indent="-342900">
              <a:spcAft>
                <a:spcPts val="600"/>
              </a:spcAft>
              <a:buSzPct val="100000"/>
              <a:buChar char="•"/>
            </a:pPr>
            <a:r>
              <a:rPr sz="1500">
                <a:solidFill>
                  <a:srgbClr val="1F2937"/>
                </a:solidFill>
              </a:rPr>
              <a:t>Separate payment and inspection records</a:t>
            </a:r>
          </a:p>
          <a:p>
            <a:pPr marL="342900" indent="-342900">
              <a:spcAft>
                <a:spcPts val="600"/>
              </a:spcAft>
              <a:buSzPct val="100000"/>
              <a:buChar char="•"/>
            </a:pPr>
            <a:r>
              <a:rPr sz="1500">
                <a:solidFill>
                  <a:srgbClr val="1F2937"/>
                </a:solidFill>
              </a:rPr>
              <a:t>Difficulty finding issued certificates</a:t>
            </a:r>
          </a:p>
        </p:txBody>
      </p:sp>
    </p:spTree>
    <p:extLst>
      <p:ext uri="{BB962C8B-B14F-4D97-AF65-F5344CB8AC3E}">
        <p14:creationId xmlns:p14="http://schemas.microsoft.com/office/powerpoint/2010/main" val="1514130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56BBB0C8-038A-4E3F-8B27-104A2FB4B01A}"/>
              </a:ext>
            </a:extLst>
          </p:cNvPr>
          <p:cNvSpPr>
            <a:spLocks noGrp="1"/>
          </p:cNvSpPr>
          <p:nvPr/>
        </p:nvSpPr>
        <p:spPr>
          <a:xfrm>
            <a:off x="0" y="0"/>
            <a:ext cx="164592" cy="5143500"/>
          </a:xfrm>
          <a:prstGeom prst="rect">
            <a:avLst/>
          </a:prstGeom>
          <a:solidFill>
            <a:srgbClr val="047857"/>
          </a:solidFill>
        </p:spPr>
        <p:txBody>
          <a:bodyPr/>
          <a:lstStyle/>
          <a:p>
            <a:endParaRPr/>
          </a:p>
        </p:txBody>
      </p:sp>
      <p:sp>
        <p:nvSpPr>
          <p:cNvPr id="3" name="Text 1">
            <a:extLst>
              <a:ext uri="{FF2B5EF4-FFF2-40B4-BE49-F238E27FC236}">
                <a16:creationId xmlns:a16="http://schemas.microsoft.com/office/drawing/2014/main" xmlns="" id="{E2D5B3B5-3596-4665-B26D-01879153005A}"/>
              </a:ext>
            </a:extLst>
          </p:cNvPr>
          <p:cNvSpPr>
            <a:spLocks noGrp="1"/>
          </p:cNvSpPr>
          <p:nvPr/>
        </p:nvSpPr>
        <p:spPr>
          <a:xfrm>
            <a:off x="548640" y="274320"/>
            <a:ext cx="8046720" cy="548640"/>
          </a:xfrm>
          <a:prstGeom prst="rect">
            <a:avLst/>
          </a:prstGeom>
          <a:noFill/>
        </p:spPr>
        <p:txBody>
          <a:bodyPr wrap="square" lIns="0" tIns="0" rIns="0" bIns="0" anchor="ctr"/>
          <a:lstStyle/>
          <a:p>
            <a:pPr marL="0" indent="0">
              <a:buNone/>
            </a:pPr>
            <a:r>
              <a:rPr sz="2800" b="1">
                <a:solidFill>
                  <a:srgbClr val="047857"/>
                </a:solidFill>
              </a:rPr>
              <a:t>Objectives</a:t>
            </a:r>
            <a:endParaRPr sz="2800"/>
          </a:p>
        </p:txBody>
      </p:sp>
      <p:sp>
        <p:nvSpPr>
          <p:cNvPr id="4" name="Shape 2">
            <a:extLst>
              <a:ext uri="{FF2B5EF4-FFF2-40B4-BE49-F238E27FC236}">
                <a16:creationId xmlns:a16="http://schemas.microsoft.com/office/drawing/2014/main" xmlns="" id="{7D78BA9C-B8EC-472B-BDF1-C6A8DADECBA2}"/>
              </a:ext>
            </a:extLst>
          </p:cNvPr>
          <p:cNvSpPr>
            <a:spLocks noGrp="1"/>
          </p:cNvSpPr>
          <p:nvPr/>
        </p:nvSpPr>
        <p:spPr>
          <a:xfrm>
            <a:off x="548640" y="868680"/>
            <a:ext cx="1097280" cy="0"/>
          </a:xfrm>
          <a:prstGeom prst="line">
            <a:avLst/>
          </a:prstGeom>
          <a:noFill/>
          <a:ln w="38100">
            <a:solidFill>
              <a:srgbClr val="34D399"/>
            </a:solidFill>
            <a:prstDash val="solid"/>
          </a:ln>
        </p:spPr>
        <p:txBody>
          <a:bodyPr/>
          <a:lstStyle/>
          <a:p>
            <a:endParaRPr/>
          </a:p>
        </p:txBody>
      </p:sp>
      <p:sp>
        <p:nvSpPr>
          <p:cNvPr id="5" name="Text 3">
            <a:extLst>
              <a:ext uri="{FF2B5EF4-FFF2-40B4-BE49-F238E27FC236}">
                <a16:creationId xmlns:a16="http://schemas.microsoft.com/office/drawing/2014/main" xmlns="" id="{8A792ECE-4F94-4FBA-8400-19CEF99002AE}"/>
              </a:ext>
            </a:extLst>
          </p:cNvPr>
          <p:cNvSpPr>
            <a:spLocks noGrp="1"/>
          </p:cNvSpPr>
          <p:nvPr/>
        </p:nvSpPr>
        <p:spPr>
          <a:xfrm>
            <a:off x="548640" y="4754880"/>
            <a:ext cx="4572000" cy="274320"/>
          </a:xfrm>
          <a:prstGeom prst="rect">
            <a:avLst/>
          </a:prstGeom>
          <a:noFill/>
        </p:spPr>
        <p:txBody>
          <a:bodyPr wrap="square" lIns="0" tIns="0" rIns="0" bIns="0" anchor="ctr"/>
          <a:lstStyle/>
          <a:p>
            <a:pPr marL="0" indent="0">
              <a:buNone/>
            </a:pPr>
            <a:r>
              <a:rPr sz="1100">
                <a:solidFill>
                  <a:srgbClr val="6B7280"/>
                </a:solidFill>
              </a:rPr>
              <a:t>Vehicle Registration System</a:t>
            </a:r>
            <a:endParaRPr sz="1100"/>
          </a:p>
        </p:txBody>
      </p:sp>
      <p:sp>
        <p:nvSpPr>
          <p:cNvPr id="6" name="Text 4">
            <a:extLst>
              <a:ext uri="{FF2B5EF4-FFF2-40B4-BE49-F238E27FC236}">
                <a16:creationId xmlns:a16="http://schemas.microsoft.com/office/drawing/2014/main" xmlns="" id="{F41ED384-A10D-4914-A1F5-4C1E090D1DE9}"/>
              </a:ext>
            </a:extLst>
          </p:cNvPr>
          <p:cNvSpPr>
            <a:spLocks noGrp="1"/>
          </p:cNvSpPr>
          <p:nvPr/>
        </p:nvSpPr>
        <p:spPr>
          <a:xfrm>
            <a:off x="8229600" y="4754880"/>
            <a:ext cx="457200" cy="274320"/>
          </a:xfrm>
          <a:prstGeom prst="rect">
            <a:avLst/>
          </a:prstGeom>
          <a:noFill/>
        </p:spPr>
        <p:txBody>
          <a:bodyPr wrap="square" lIns="0" tIns="0" rIns="0" bIns="0" anchor="ctr"/>
          <a:lstStyle/>
          <a:p>
            <a:pPr marL="0" indent="0" algn="r">
              <a:buNone/>
            </a:pPr>
            <a:r>
              <a:rPr sz="1100">
                <a:solidFill>
                  <a:srgbClr val="6B7280"/>
                </a:solidFill>
              </a:rPr>
              <a:t>3</a:t>
            </a:r>
            <a:endParaRPr sz="1100"/>
          </a:p>
        </p:txBody>
      </p:sp>
      <p:sp>
        <p:nvSpPr>
          <p:cNvPr id="7" name="Shape 5">
            <a:extLst>
              <a:ext uri="{FF2B5EF4-FFF2-40B4-BE49-F238E27FC236}">
                <a16:creationId xmlns:a16="http://schemas.microsoft.com/office/drawing/2014/main" xmlns="" id="{8F7F2ABD-CB43-4ED8-86A4-30907488BE59}"/>
              </a:ext>
            </a:extLst>
          </p:cNvPr>
          <p:cNvSpPr>
            <a:spLocks noGrp="1"/>
          </p:cNvSpPr>
          <p:nvPr/>
        </p:nvSpPr>
        <p:spPr>
          <a:xfrm>
            <a:off x="548640" y="1188720"/>
            <a:ext cx="457200" cy="457200"/>
          </a:xfrm>
          <a:prstGeom prst="ellipse">
            <a:avLst/>
          </a:prstGeom>
          <a:solidFill>
            <a:srgbClr val="047857"/>
          </a:solidFill>
        </p:spPr>
        <p:txBody>
          <a:bodyPr/>
          <a:lstStyle/>
          <a:p>
            <a:endParaRPr/>
          </a:p>
        </p:txBody>
      </p:sp>
      <p:sp>
        <p:nvSpPr>
          <p:cNvPr id="8" name="Text 6">
            <a:extLst>
              <a:ext uri="{FF2B5EF4-FFF2-40B4-BE49-F238E27FC236}">
                <a16:creationId xmlns:a16="http://schemas.microsoft.com/office/drawing/2014/main" xmlns="" id="{425465AE-F255-40E0-84A7-DBD2DC918A1A}"/>
              </a:ext>
            </a:extLst>
          </p:cNvPr>
          <p:cNvSpPr>
            <a:spLocks noGrp="1"/>
          </p:cNvSpPr>
          <p:nvPr/>
        </p:nvSpPr>
        <p:spPr>
          <a:xfrm>
            <a:off x="548640" y="1188720"/>
            <a:ext cx="457200" cy="457200"/>
          </a:xfrm>
          <a:prstGeom prst="rect">
            <a:avLst/>
          </a:prstGeom>
          <a:noFill/>
        </p:spPr>
        <p:txBody>
          <a:bodyPr wrap="square" lIns="0" tIns="0" rIns="0" bIns="0" anchor="ctr"/>
          <a:lstStyle/>
          <a:p>
            <a:pPr marL="0" indent="0" algn="ctr">
              <a:buNone/>
            </a:pPr>
            <a:r>
              <a:rPr sz="1600" b="1">
                <a:solidFill>
                  <a:srgbClr val="FFFFFF"/>
                </a:solidFill>
              </a:rPr>
              <a:t>1</a:t>
            </a:r>
            <a:endParaRPr sz="1600"/>
          </a:p>
        </p:txBody>
      </p:sp>
      <p:sp>
        <p:nvSpPr>
          <p:cNvPr id="9" name="Text 7">
            <a:extLst>
              <a:ext uri="{FF2B5EF4-FFF2-40B4-BE49-F238E27FC236}">
                <a16:creationId xmlns:a16="http://schemas.microsoft.com/office/drawing/2014/main" xmlns="" id="{EC217FD5-8544-40FF-B7F9-EF8C8738D36F}"/>
              </a:ext>
            </a:extLst>
          </p:cNvPr>
          <p:cNvSpPr>
            <a:spLocks noGrp="1"/>
          </p:cNvSpPr>
          <p:nvPr/>
        </p:nvSpPr>
        <p:spPr>
          <a:xfrm>
            <a:off x="1143000" y="1143000"/>
            <a:ext cx="3337560" cy="548640"/>
          </a:xfrm>
          <a:prstGeom prst="rect">
            <a:avLst/>
          </a:prstGeom>
          <a:noFill/>
        </p:spPr>
        <p:txBody>
          <a:bodyPr wrap="square" lIns="0" tIns="0" rIns="0" bIns="0" anchor="ctr"/>
          <a:lstStyle/>
          <a:p>
            <a:pPr marL="0" indent="0">
              <a:buNone/>
            </a:pPr>
            <a:r>
              <a:rPr sz="1500">
                <a:solidFill>
                  <a:srgbClr val="1F2937"/>
                </a:solidFill>
              </a:rPr>
              <a:t>Submit a new vehicle application</a:t>
            </a:r>
            <a:endParaRPr sz="1500"/>
          </a:p>
        </p:txBody>
      </p:sp>
      <p:sp>
        <p:nvSpPr>
          <p:cNvPr id="10" name="Shape 8">
            <a:extLst>
              <a:ext uri="{FF2B5EF4-FFF2-40B4-BE49-F238E27FC236}">
                <a16:creationId xmlns:a16="http://schemas.microsoft.com/office/drawing/2014/main" xmlns="" id="{89F81CAA-EC44-411E-A2FF-3418F0030718}"/>
              </a:ext>
            </a:extLst>
          </p:cNvPr>
          <p:cNvSpPr>
            <a:spLocks noGrp="1"/>
          </p:cNvSpPr>
          <p:nvPr/>
        </p:nvSpPr>
        <p:spPr>
          <a:xfrm>
            <a:off x="4663440" y="1188720"/>
            <a:ext cx="457200" cy="457200"/>
          </a:xfrm>
          <a:prstGeom prst="ellipse">
            <a:avLst/>
          </a:prstGeom>
          <a:solidFill>
            <a:srgbClr val="047857"/>
          </a:solidFill>
        </p:spPr>
        <p:txBody>
          <a:bodyPr/>
          <a:lstStyle/>
          <a:p>
            <a:endParaRPr/>
          </a:p>
        </p:txBody>
      </p:sp>
      <p:sp>
        <p:nvSpPr>
          <p:cNvPr id="11" name="Text 9">
            <a:extLst>
              <a:ext uri="{FF2B5EF4-FFF2-40B4-BE49-F238E27FC236}">
                <a16:creationId xmlns:a16="http://schemas.microsoft.com/office/drawing/2014/main" xmlns="" id="{44C6ADC1-BEE5-413A-A287-776A9553C891}"/>
              </a:ext>
            </a:extLst>
          </p:cNvPr>
          <p:cNvSpPr>
            <a:spLocks noGrp="1"/>
          </p:cNvSpPr>
          <p:nvPr/>
        </p:nvSpPr>
        <p:spPr>
          <a:xfrm>
            <a:off x="4663440" y="1188720"/>
            <a:ext cx="457200" cy="457200"/>
          </a:xfrm>
          <a:prstGeom prst="rect">
            <a:avLst/>
          </a:prstGeom>
          <a:noFill/>
        </p:spPr>
        <p:txBody>
          <a:bodyPr wrap="square" lIns="0" tIns="0" rIns="0" bIns="0" anchor="ctr"/>
          <a:lstStyle/>
          <a:p>
            <a:pPr marL="0" indent="0" algn="ctr">
              <a:buNone/>
            </a:pPr>
            <a:r>
              <a:rPr sz="1600" b="1">
                <a:solidFill>
                  <a:srgbClr val="FFFFFF"/>
                </a:solidFill>
              </a:rPr>
              <a:t>2</a:t>
            </a:r>
            <a:endParaRPr sz="1600"/>
          </a:p>
        </p:txBody>
      </p:sp>
      <p:sp>
        <p:nvSpPr>
          <p:cNvPr id="12" name="Text 10">
            <a:extLst>
              <a:ext uri="{FF2B5EF4-FFF2-40B4-BE49-F238E27FC236}">
                <a16:creationId xmlns:a16="http://schemas.microsoft.com/office/drawing/2014/main" xmlns="" id="{D6EFE216-0C53-4498-A308-9DD4E9D9D6A2}"/>
              </a:ext>
            </a:extLst>
          </p:cNvPr>
          <p:cNvSpPr>
            <a:spLocks noGrp="1"/>
          </p:cNvSpPr>
          <p:nvPr/>
        </p:nvSpPr>
        <p:spPr>
          <a:xfrm>
            <a:off x="5257800" y="1143000"/>
            <a:ext cx="3337560" cy="548640"/>
          </a:xfrm>
          <a:prstGeom prst="rect">
            <a:avLst/>
          </a:prstGeom>
          <a:noFill/>
        </p:spPr>
        <p:txBody>
          <a:bodyPr wrap="square" lIns="0" tIns="0" rIns="0" bIns="0" anchor="ctr"/>
          <a:lstStyle/>
          <a:p>
            <a:pPr marL="0" indent="0">
              <a:buNone/>
            </a:pPr>
            <a:r>
              <a:rPr sz="1500">
                <a:solidFill>
                  <a:srgbClr val="1F2937"/>
                </a:solidFill>
              </a:rPr>
              <a:t>Separate owner and RTO screens</a:t>
            </a:r>
            <a:endParaRPr sz="1500"/>
          </a:p>
        </p:txBody>
      </p:sp>
      <p:sp>
        <p:nvSpPr>
          <p:cNvPr id="13" name="Shape 11">
            <a:extLst>
              <a:ext uri="{FF2B5EF4-FFF2-40B4-BE49-F238E27FC236}">
                <a16:creationId xmlns:a16="http://schemas.microsoft.com/office/drawing/2014/main" xmlns="" id="{AA3BFD15-C56A-47C7-BFB7-D38E224BA3F1}"/>
              </a:ext>
            </a:extLst>
          </p:cNvPr>
          <p:cNvSpPr>
            <a:spLocks noGrp="1"/>
          </p:cNvSpPr>
          <p:nvPr/>
        </p:nvSpPr>
        <p:spPr>
          <a:xfrm>
            <a:off x="548640" y="2029968"/>
            <a:ext cx="457200" cy="457200"/>
          </a:xfrm>
          <a:prstGeom prst="ellipse">
            <a:avLst/>
          </a:prstGeom>
          <a:solidFill>
            <a:srgbClr val="047857"/>
          </a:solidFill>
        </p:spPr>
        <p:txBody>
          <a:bodyPr/>
          <a:lstStyle/>
          <a:p>
            <a:endParaRPr/>
          </a:p>
        </p:txBody>
      </p:sp>
      <p:sp>
        <p:nvSpPr>
          <p:cNvPr id="14" name="Text 12">
            <a:extLst>
              <a:ext uri="{FF2B5EF4-FFF2-40B4-BE49-F238E27FC236}">
                <a16:creationId xmlns:a16="http://schemas.microsoft.com/office/drawing/2014/main" xmlns="" id="{5B6EB7BE-7C92-4795-AA5E-CC5C6014439E}"/>
              </a:ext>
            </a:extLst>
          </p:cNvPr>
          <p:cNvSpPr>
            <a:spLocks noGrp="1"/>
          </p:cNvSpPr>
          <p:nvPr/>
        </p:nvSpPr>
        <p:spPr>
          <a:xfrm>
            <a:off x="548640" y="2029968"/>
            <a:ext cx="457200" cy="457200"/>
          </a:xfrm>
          <a:prstGeom prst="rect">
            <a:avLst/>
          </a:prstGeom>
          <a:noFill/>
        </p:spPr>
        <p:txBody>
          <a:bodyPr wrap="square" lIns="0" tIns="0" rIns="0" bIns="0" anchor="ctr"/>
          <a:lstStyle/>
          <a:p>
            <a:pPr marL="0" indent="0" algn="ctr">
              <a:buNone/>
            </a:pPr>
            <a:r>
              <a:rPr sz="1600" b="1">
                <a:solidFill>
                  <a:srgbClr val="FFFFFF"/>
                </a:solidFill>
              </a:rPr>
              <a:t>3</a:t>
            </a:r>
            <a:endParaRPr sz="1600"/>
          </a:p>
        </p:txBody>
      </p:sp>
      <p:sp>
        <p:nvSpPr>
          <p:cNvPr id="15" name="Text 13">
            <a:extLst>
              <a:ext uri="{FF2B5EF4-FFF2-40B4-BE49-F238E27FC236}">
                <a16:creationId xmlns:a16="http://schemas.microsoft.com/office/drawing/2014/main" xmlns="" id="{97B4835A-1998-46CE-80FE-B47C4176B341}"/>
              </a:ext>
            </a:extLst>
          </p:cNvPr>
          <p:cNvSpPr>
            <a:spLocks noGrp="1"/>
          </p:cNvSpPr>
          <p:nvPr/>
        </p:nvSpPr>
        <p:spPr>
          <a:xfrm>
            <a:off x="1143000" y="1984248"/>
            <a:ext cx="3337560" cy="548640"/>
          </a:xfrm>
          <a:prstGeom prst="rect">
            <a:avLst/>
          </a:prstGeom>
          <a:noFill/>
        </p:spPr>
        <p:txBody>
          <a:bodyPr wrap="square" lIns="0" tIns="0" rIns="0" bIns="0" anchor="ctr"/>
          <a:lstStyle/>
          <a:p>
            <a:pPr marL="0" indent="0">
              <a:buNone/>
            </a:pPr>
            <a:r>
              <a:rPr sz="1500">
                <a:solidFill>
                  <a:srgbClr val="1F2937"/>
                </a:solidFill>
              </a:rPr>
              <a:t>Track applications by reference</a:t>
            </a:r>
            <a:endParaRPr sz="1500"/>
          </a:p>
        </p:txBody>
      </p:sp>
      <p:sp>
        <p:nvSpPr>
          <p:cNvPr id="16" name="Shape 14">
            <a:extLst>
              <a:ext uri="{FF2B5EF4-FFF2-40B4-BE49-F238E27FC236}">
                <a16:creationId xmlns:a16="http://schemas.microsoft.com/office/drawing/2014/main" xmlns="" id="{5D388C27-ECDF-42EA-B940-BD518DE00F55}"/>
              </a:ext>
            </a:extLst>
          </p:cNvPr>
          <p:cNvSpPr>
            <a:spLocks noGrp="1"/>
          </p:cNvSpPr>
          <p:nvPr/>
        </p:nvSpPr>
        <p:spPr>
          <a:xfrm>
            <a:off x="4663440" y="2029968"/>
            <a:ext cx="457200" cy="457200"/>
          </a:xfrm>
          <a:prstGeom prst="ellipse">
            <a:avLst/>
          </a:prstGeom>
          <a:solidFill>
            <a:srgbClr val="047857"/>
          </a:solidFill>
        </p:spPr>
        <p:txBody>
          <a:bodyPr/>
          <a:lstStyle/>
          <a:p>
            <a:endParaRPr/>
          </a:p>
        </p:txBody>
      </p:sp>
      <p:sp>
        <p:nvSpPr>
          <p:cNvPr id="17" name="Text 15">
            <a:extLst>
              <a:ext uri="{FF2B5EF4-FFF2-40B4-BE49-F238E27FC236}">
                <a16:creationId xmlns:a16="http://schemas.microsoft.com/office/drawing/2014/main" xmlns="" id="{ACAFDAF9-DC40-4266-8B37-5877D07ED7A3}"/>
              </a:ext>
            </a:extLst>
          </p:cNvPr>
          <p:cNvSpPr>
            <a:spLocks noGrp="1"/>
          </p:cNvSpPr>
          <p:nvPr/>
        </p:nvSpPr>
        <p:spPr>
          <a:xfrm>
            <a:off x="4663440" y="2029968"/>
            <a:ext cx="457200" cy="457200"/>
          </a:xfrm>
          <a:prstGeom prst="rect">
            <a:avLst/>
          </a:prstGeom>
          <a:noFill/>
        </p:spPr>
        <p:txBody>
          <a:bodyPr wrap="square" lIns="0" tIns="0" rIns="0" bIns="0" anchor="ctr"/>
          <a:lstStyle/>
          <a:p>
            <a:pPr marL="0" indent="0" algn="ctr">
              <a:buNone/>
            </a:pPr>
            <a:r>
              <a:rPr sz="1600" b="1">
                <a:solidFill>
                  <a:srgbClr val="FFFFFF"/>
                </a:solidFill>
              </a:rPr>
              <a:t>4</a:t>
            </a:r>
            <a:endParaRPr sz="1600"/>
          </a:p>
        </p:txBody>
      </p:sp>
      <p:sp>
        <p:nvSpPr>
          <p:cNvPr id="18" name="Text 16">
            <a:extLst>
              <a:ext uri="{FF2B5EF4-FFF2-40B4-BE49-F238E27FC236}">
                <a16:creationId xmlns:a16="http://schemas.microsoft.com/office/drawing/2014/main" xmlns="" id="{AD165863-EEED-4406-AF11-D0AC5A9C76A1}"/>
              </a:ext>
            </a:extLst>
          </p:cNvPr>
          <p:cNvSpPr>
            <a:spLocks noGrp="1"/>
          </p:cNvSpPr>
          <p:nvPr/>
        </p:nvSpPr>
        <p:spPr>
          <a:xfrm>
            <a:off x="5257800" y="1984248"/>
            <a:ext cx="3337560" cy="548640"/>
          </a:xfrm>
          <a:prstGeom prst="rect">
            <a:avLst/>
          </a:prstGeom>
          <a:noFill/>
        </p:spPr>
        <p:txBody>
          <a:bodyPr wrap="square" lIns="0" tIns="0" rIns="0" bIns="0" anchor="ctr"/>
          <a:lstStyle/>
          <a:p>
            <a:pPr marL="0" indent="0">
              <a:buNone/>
            </a:pPr>
            <a:r>
              <a:rPr sz="1500">
                <a:solidFill>
                  <a:srgbClr val="1F2937"/>
                </a:solidFill>
              </a:rPr>
              <a:t>Review details and inspections</a:t>
            </a:r>
            <a:endParaRPr sz="1500"/>
          </a:p>
        </p:txBody>
      </p:sp>
      <p:sp>
        <p:nvSpPr>
          <p:cNvPr id="19" name="Shape 17">
            <a:extLst>
              <a:ext uri="{FF2B5EF4-FFF2-40B4-BE49-F238E27FC236}">
                <a16:creationId xmlns:a16="http://schemas.microsoft.com/office/drawing/2014/main" xmlns="" id="{AAAD7233-E35B-43C0-A239-E56F21C48069}"/>
              </a:ext>
            </a:extLst>
          </p:cNvPr>
          <p:cNvSpPr>
            <a:spLocks noGrp="1"/>
          </p:cNvSpPr>
          <p:nvPr/>
        </p:nvSpPr>
        <p:spPr>
          <a:xfrm>
            <a:off x="548640" y="2871216"/>
            <a:ext cx="457200" cy="457200"/>
          </a:xfrm>
          <a:prstGeom prst="ellipse">
            <a:avLst/>
          </a:prstGeom>
          <a:solidFill>
            <a:srgbClr val="047857"/>
          </a:solidFill>
        </p:spPr>
        <p:txBody>
          <a:bodyPr/>
          <a:lstStyle/>
          <a:p>
            <a:endParaRPr/>
          </a:p>
        </p:txBody>
      </p:sp>
      <p:sp>
        <p:nvSpPr>
          <p:cNvPr id="20" name="Text 18">
            <a:extLst>
              <a:ext uri="{FF2B5EF4-FFF2-40B4-BE49-F238E27FC236}">
                <a16:creationId xmlns:a16="http://schemas.microsoft.com/office/drawing/2014/main" xmlns="" id="{C898F2C5-D346-4D79-A6EF-6A0F5878FA7F}"/>
              </a:ext>
            </a:extLst>
          </p:cNvPr>
          <p:cNvSpPr>
            <a:spLocks noGrp="1"/>
          </p:cNvSpPr>
          <p:nvPr/>
        </p:nvSpPr>
        <p:spPr>
          <a:xfrm>
            <a:off x="548640" y="2871216"/>
            <a:ext cx="457200" cy="457200"/>
          </a:xfrm>
          <a:prstGeom prst="rect">
            <a:avLst/>
          </a:prstGeom>
          <a:noFill/>
        </p:spPr>
        <p:txBody>
          <a:bodyPr wrap="square" lIns="0" tIns="0" rIns="0" bIns="0" anchor="ctr"/>
          <a:lstStyle/>
          <a:p>
            <a:pPr marL="0" indent="0" algn="ctr">
              <a:buNone/>
            </a:pPr>
            <a:r>
              <a:rPr sz="1600" b="1">
                <a:solidFill>
                  <a:srgbClr val="FFFFFF"/>
                </a:solidFill>
              </a:rPr>
              <a:t>5</a:t>
            </a:r>
            <a:endParaRPr sz="1600"/>
          </a:p>
        </p:txBody>
      </p:sp>
      <p:sp>
        <p:nvSpPr>
          <p:cNvPr id="21" name="Text 19">
            <a:extLst>
              <a:ext uri="{FF2B5EF4-FFF2-40B4-BE49-F238E27FC236}">
                <a16:creationId xmlns:a16="http://schemas.microsoft.com/office/drawing/2014/main" xmlns="" id="{D9C3ACEC-24C4-4B30-996F-D9AC1450AE6B}"/>
              </a:ext>
            </a:extLst>
          </p:cNvPr>
          <p:cNvSpPr>
            <a:spLocks noGrp="1"/>
          </p:cNvSpPr>
          <p:nvPr/>
        </p:nvSpPr>
        <p:spPr>
          <a:xfrm>
            <a:off x="1143000" y="2825496"/>
            <a:ext cx="3337560" cy="548640"/>
          </a:xfrm>
          <a:prstGeom prst="rect">
            <a:avLst/>
          </a:prstGeom>
          <a:noFill/>
        </p:spPr>
        <p:txBody>
          <a:bodyPr wrap="square" lIns="0" tIns="0" rIns="0" bIns="0" anchor="ctr"/>
          <a:lstStyle/>
          <a:p>
            <a:pPr marL="0" indent="0">
              <a:buNone/>
            </a:pPr>
            <a:r>
              <a:rPr sz="1500">
                <a:solidFill>
                  <a:srgbClr val="1F2937"/>
                </a:solidFill>
              </a:rPr>
              <a:t>Manage fee rules and accounts</a:t>
            </a:r>
            <a:endParaRPr sz="1500"/>
          </a:p>
        </p:txBody>
      </p:sp>
      <p:sp>
        <p:nvSpPr>
          <p:cNvPr id="22" name="Shape 20">
            <a:extLst>
              <a:ext uri="{FF2B5EF4-FFF2-40B4-BE49-F238E27FC236}">
                <a16:creationId xmlns:a16="http://schemas.microsoft.com/office/drawing/2014/main" xmlns="" id="{E2542981-34E7-4E73-8949-C82277D2D19C}"/>
              </a:ext>
            </a:extLst>
          </p:cNvPr>
          <p:cNvSpPr>
            <a:spLocks noGrp="1"/>
          </p:cNvSpPr>
          <p:nvPr/>
        </p:nvSpPr>
        <p:spPr>
          <a:xfrm>
            <a:off x="4663440" y="2871216"/>
            <a:ext cx="457200" cy="457200"/>
          </a:xfrm>
          <a:prstGeom prst="ellipse">
            <a:avLst/>
          </a:prstGeom>
          <a:solidFill>
            <a:srgbClr val="047857"/>
          </a:solidFill>
        </p:spPr>
        <p:txBody>
          <a:bodyPr/>
          <a:lstStyle/>
          <a:p>
            <a:endParaRPr/>
          </a:p>
        </p:txBody>
      </p:sp>
      <p:sp>
        <p:nvSpPr>
          <p:cNvPr id="23" name="Text 21">
            <a:extLst>
              <a:ext uri="{FF2B5EF4-FFF2-40B4-BE49-F238E27FC236}">
                <a16:creationId xmlns:a16="http://schemas.microsoft.com/office/drawing/2014/main" xmlns="" id="{152214EA-6B35-4B21-8A60-E870901E4058}"/>
              </a:ext>
            </a:extLst>
          </p:cNvPr>
          <p:cNvSpPr>
            <a:spLocks noGrp="1"/>
          </p:cNvSpPr>
          <p:nvPr/>
        </p:nvSpPr>
        <p:spPr>
          <a:xfrm>
            <a:off x="4663440" y="2871216"/>
            <a:ext cx="457200" cy="457200"/>
          </a:xfrm>
          <a:prstGeom prst="rect">
            <a:avLst/>
          </a:prstGeom>
          <a:noFill/>
        </p:spPr>
        <p:txBody>
          <a:bodyPr wrap="square" lIns="0" tIns="0" rIns="0" bIns="0" anchor="ctr"/>
          <a:lstStyle/>
          <a:p>
            <a:pPr marL="0" indent="0" algn="ctr">
              <a:buNone/>
            </a:pPr>
            <a:r>
              <a:rPr sz="1600" b="1">
                <a:solidFill>
                  <a:srgbClr val="FFFFFF"/>
                </a:solidFill>
              </a:rPr>
              <a:t>6</a:t>
            </a:r>
            <a:endParaRPr sz="1600"/>
          </a:p>
        </p:txBody>
      </p:sp>
      <p:sp>
        <p:nvSpPr>
          <p:cNvPr id="24" name="Text 22">
            <a:extLst>
              <a:ext uri="{FF2B5EF4-FFF2-40B4-BE49-F238E27FC236}">
                <a16:creationId xmlns:a16="http://schemas.microsoft.com/office/drawing/2014/main" xmlns="" id="{605218CD-EFAF-4D1C-B308-9C707851282A}"/>
              </a:ext>
            </a:extLst>
          </p:cNvPr>
          <p:cNvSpPr>
            <a:spLocks noGrp="1"/>
          </p:cNvSpPr>
          <p:nvPr/>
        </p:nvSpPr>
        <p:spPr>
          <a:xfrm>
            <a:off x="5257800" y="2825496"/>
            <a:ext cx="3337560" cy="548640"/>
          </a:xfrm>
          <a:prstGeom prst="rect">
            <a:avLst/>
          </a:prstGeom>
          <a:noFill/>
        </p:spPr>
        <p:txBody>
          <a:bodyPr wrap="square" lIns="0" tIns="0" rIns="0" bIns="0" anchor="ctr"/>
          <a:lstStyle/>
          <a:p>
            <a:pPr marL="0" indent="0">
              <a:buNone/>
            </a:pPr>
            <a:r>
              <a:rPr sz="1500">
                <a:solidFill>
                  <a:srgbClr val="1F2937"/>
                </a:solidFill>
              </a:rPr>
              <a:t>Generate the registration certificate</a:t>
            </a:r>
            <a:endParaRPr sz="1500"/>
          </a:p>
        </p:txBody>
      </p:sp>
      <p:sp>
        <p:nvSpPr>
          <p:cNvPr id="25" name="Shape 23">
            <a:extLst>
              <a:ext uri="{FF2B5EF4-FFF2-40B4-BE49-F238E27FC236}">
                <a16:creationId xmlns:a16="http://schemas.microsoft.com/office/drawing/2014/main" xmlns="" id="{B232E75C-C398-44C4-A284-3FA7943617C2}"/>
              </a:ext>
            </a:extLst>
          </p:cNvPr>
          <p:cNvSpPr>
            <a:spLocks noGrp="1"/>
          </p:cNvSpPr>
          <p:nvPr/>
        </p:nvSpPr>
        <p:spPr>
          <a:xfrm>
            <a:off x="548640" y="3712464"/>
            <a:ext cx="457200" cy="457200"/>
          </a:xfrm>
          <a:prstGeom prst="ellipse">
            <a:avLst/>
          </a:prstGeom>
          <a:solidFill>
            <a:srgbClr val="047857"/>
          </a:solidFill>
        </p:spPr>
        <p:txBody>
          <a:bodyPr/>
          <a:lstStyle/>
          <a:p>
            <a:endParaRPr/>
          </a:p>
        </p:txBody>
      </p:sp>
      <p:sp>
        <p:nvSpPr>
          <p:cNvPr id="26" name="Text 24">
            <a:extLst>
              <a:ext uri="{FF2B5EF4-FFF2-40B4-BE49-F238E27FC236}">
                <a16:creationId xmlns:a16="http://schemas.microsoft.com/office/drawing/2014/main" xmlns="" id="{93887B43-438B-4919-AF93-9A81B358300A}"/>
              </a:ext>
            </a:extLst>
          </p:cNvPr>
          <p:cNvSpPr>
            <a:spLocks noGrp="1"/>
          </p:cNvSpPr>
          <p:nvPr/>
        </p:nvSpPr>
        <p:spPr>
          <a:xfrm>
            <a:off x="548640" y="3712464"/>
            <a:ext cx="457200" cy="457200"/>
          </a:xfrm>
          <a:prstGeom prst="rect">
            <a:avLst/>
          </a:prstGeom>
          <a:noFill/>
        </p:spPr>
        <p:txBody>
          <a:bodyPr wrap="square" lIns="0" tIns="0" rIns="0" bIns="0" anchor="ctr"/>
          <a:lstStyle/>
          <a:p>
            <a:pPr marL="0" indent="0" algn="ctr">
              <a:buNone/>
            </a:pPr>
            <a:r>
              <a:rPr sz="1600" b="1">
                <a:solidFill>
                  <a:srgbClr val="FFFFFF"/>
                </a:solidFill>
              </a:rPr>
              <a:t>7</a:t>
            </a:r>
            <a:endParaRPr sz="1600"/>
          </a:p>
        </p:txBody>
      </p:sp>
      <p:sp>
        <p:nvSpPr>
          <p:cNvPr id="27" name="Text 25">
            <a:extLst>
              <a:ext uri="{FF2B5EF4-FFF2-40B4-BE49-F238E27FC236}">
                <a16:creationId xmlns:a16="http://schemas.microsoft.com/office/drawing/2014/main" xmlns="" id="{88A2C15A-5A48-470E-896B-3FC0D7E4137D}"/>
              </a:ext>
            </a:extLst>
          </p:cNvPr>
          <p:cNvSpPr>
            <a:spLocks noGrp="1"/>
          </p:cNvSpPr>
          <p:nvPr/>
        </p:nvSpPr>
        <p:spPr>
          <a:xfrm>
            <a:off x="1143000" y="3666744"/>
            <a:ext cx="3337560" cy="548640"/>
          </a:xfrm>
          <a:prstGeom prst="rect">
            <a:avLst/>
          </a:prstGeom>
          <a:noFill/>
        </p:spPr>
        <p:txBody>
          <a:bodyPr wrap="square" lIns="0" tIns="0" rIns="0" bIns="0" anchor="ctr"/>
          <a:lstStyle/>
          <a:p>
            <a:pPr marL="0" indent="0">
              <a:buNone/>
            </a:pPr>
            <a:r>
              <a:rPr sz="1500">
                <a:solidFill>
                  <a:srgbClr val="1F2937"/>
                </a:solidFill>
              </a:rPr>
              <a:t>Validate inputs and workflow rules</a:t>
            </a:r>
            <a:endParaRPr sz="1500"/>
          </a:p>
        </p:txBody>
      </p:sp>
      <p:sp>
        <p:nvSpPr>
          <p:cNvPr id="28" name="Shape 26">
            <a:extLst>
              <a:ext uri="{FF2B5EF4-FFF2-40B4-BE49-F238E27FC236}">
                <a16:creationId xmlns:a16="http://schemas.microsoft.com/office/drawing/2014/main" xmlns="" id="{441F0505-FE12-46CD-80F3-13FC329D44A3}"/>
              </a:ext>
            </a:extLst>
          </p:cNvPr>
          <p:cNvSpPr>
            <a:spLocks noGrp="1"/>
          </p:cNvSpPr>
          <p:nvPr/>
        </p:nvSpPr>
        <p:spPr>
          <a:xfrm>
            <a:off x="4663440" y="3712464"/>
            <a:ext cx="457200" cy="457200"/>
          </a:xfrm>
          <a:prstGeom prst="ellipse">
            <a:avLst/>
          </a:prstGeom>
          <a:solidFill>
            <a:srgbClr val="047857"/>
          </a:solidFill>
        </p:spPr>
        <p:txBody>
          <a:bodyPr/>
          <a:lstStyle/>
          <a:p>
            <a:endParaRPr/>
          </a:p>
        </p:txBody>
      </p:sp>
      <p:sp>
        <p:nvSpPr>
          <p:cNvPr id="29" name="Text 27">
            <a:extLst>
              <a:ext uri="{FF2B5EF4-FFF2-40B4-BE49-F238E27FC236}">
                <a16:creationId xmlns:a16="http://schemas.microsoft.com/office/drawing/2014/main" xmlns="" id="{6D9F1B7D-3E56-4095-90AB-3643C0B1695D}"/>
              </a:ext>
            </a:extLst>
          </p:cNvPr>
          <p:cNvSpPr>
            <a:spLocks noGrp="1"/>
          </p:cNvSpPr>
          <p:nvPr/>
        </p:nvSpPr>
        <p:spPr>
          <a:xfrm>
            <a:off x="4663440" y="3712464"/>
            <a:ext cx="457200" cy="457200"/>
          </a:xfrm>
          <a:prstGeom prst="rect">
            <a:avLst/>
          </a:prstGeom>
          <a:noFill/>
        </p:spPr>
        <p:txBody>
          <a:bodyPr wrap="square" lIns="0" tIns="0" rIns="0" bIns="0" anchor="ctr"/>
          <a:lstStyle/>
          <a:p>
            <a:pPr marL="0" indent="0" algn="ctr">
              <a:buNone/>
            </a:pPr>
            <a:r>
              <a:rPr sz="1600" b="1">
                <a:solidFill>
                  <a:srgbClr val="FFFFFF"/>
                </a:solidFill>
              </a:rPr>
              <a:t>8</a:t>
            </a:r>
            <a:endParaRPr sz="1600"/>
          </a:p>
        </p:txBody>
      </p:sp>
      <p:sp>
        <p:nvSpPr>
          <p:cNvPr id="30" name="Text 28">
            <a:extLst>
              <a:ext uri="{FF2B5EF4-FFF2-40B4-BE49-F238E27FC236}">
                <a16:creationId xmlns:a16="http://schemas.microsoft.com/office/drawing/2014/main" xmlns="" id="{3D04AC1F-00F2-400F-8855-95ADC6B318D9}"/>
              </a:ext>
            </a:extLst>
          </p:cNvPr>
          <p:cNvSpPr>
            <a:spLocks noGrp="1"/>
          </p:cNvSpPr>
          <p:nvPr/>
        </p:nvSpPr>
        <p:spPr>
          <a:xfrm>
            <a:off x="5257800" y="3666744"/>
            <a:ext cx="3337560" cy="548640"/>
          </a:xfrm>
          <a:prstGeom prst="rect">
            <a:avLst/>
          </a:prstGeom>
          <a:noFill/>
        </p:spPr>
        <p:txBody>
          <a:bodyPr wrap="square" lIns="0" tIns="0" rIns="0" bIns="0" anchor="ctr"/>
          <a:lstStyle/>
          <a:p>
            <a:pPr marL="0" indent="0">
              <a:buNone/>
            </a:pPr>
            <a:r>
              <a:rPr sz="1500">
                <a:solidFill>
                  <a:srgbClr val="1F2937"/>
                </a:solidFill>
              </a:rPr>
              <a:t>Verify functionality with JUnit tests</a:t>
            </a:r>
            <a:endParaRPr sz="1500"/>
          </a:p>
        </p:txBody>
      </p:sp>
    </p:spTree>
    <p:extLst>
      <p:ext uri="{BB962C8B-B14F-4D97-AF65-F5344CB8AC3E}">
        <p14:creationId xmlns:p14="http://schemas.microsoft.com/office/powerpoint/2010/main" val="651991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BB894599-7FB2-478F-9FE5-9CEB29371BF3}"/>
              </a:ext>
            </a:extLst>
          </p:cNvPr>
          <p:cNvSpPr>
            <a:spLocks noGrp="1"/>
          </p:cNvSpPr>
          <p:nvPr/>
        </p:nvSpPr>
        <p:spPr>
          <a:xfrm>
            <a:off x="0" y="0"/>
            <a:ext cx="164592" cy="5143500"/>
          </a:xfrm>
          <a:prstGeom prst="rect">
            <a:avLst/>
          </a:prstGeom>
          <a:solidFill>
            <a:srgbClr val="047857"/>
          </a:solidFill>
        </p:spPr>
        <p:txBody>
          <a:bodyPr/>
          <a:lstStyle/>
          <a:p>
            <a:endParaRPr/>
          </a:p>
        </p:txBody>
      </p:sp>
      <p:sp>
        <p:nvSpPr>
          <p:cNvPr id="3" name="Text 1">
            <a:extLst>
              <a:ext uri="{FF2B5EF4-FFF2-40B4-BE49-F238E27FC236}">
                <a16:creationId xmlns:a16="http://schemas.microsoft.com/office/drawing/2014/main" xmlns="" id="{31D3BAAC-8B42-42C4-AC52-9411BF7B6DE8}"/>
              </a:ext>
            </a:extLst>
          </p:cNvPr>
          <p:cNvSpPr>
            <a:spLocks noGrp="1"/>
          </p:cNvSpPr>
          <p:nvPr/>
        </p:nvSpPr>
        <p:spPr>
          <a:xfrm>
            <a:off x="548640" y="274320"/>
            <a:ext cx="8046720" cy="548640"/>
          </a:xfrm>
          <a:prstGeom prst="rect">
            <a:avLst/>
          </a:prstGeom>
          <a:noFill/>
        </p:spPr>
        <p:txBody>
          <a:bodyPr wrap="square" lIns="0" tIns="0" rIns="0" bIns="0" anchor="ctr"/>
          <a:lstStyle/>
          <a:p>
            <a:pPr marL="0" indent="0">
              <a:buNone/>
            </a:pPr>
            <a:r>
              <a:rPr sz="2800" b="1">
                <a:solidFill>
                  <a:srgbClr val="047857"/>
                </a:solidFill>
              </a:rPr>
              <a:t>Technology Stack</a:t>
            </a:r>
            <a:endParaRPr sz="2800"/>
          </a:p>
        </p:txBody>
      </p:sp>
      <p:sp>
        <p:nvSpPr>
          <p:cNvPr id="4" name="Shape 2">
            <a:extLst>
              <a:ext uri="{FF2B5EF4-FFF2-40B4-BE49-F238E27FC236}">
                <a16:creationId xmlns:a16="http://schemas.microsoft.com/office/drawing/2014/main" xmlns="" id="{B163243E-5E8C-4F36-B347-14E7DF95CAB7}"/>
              </a:ext>
            </a:extLst>
          </p:cNvPr>
          <p:cNvSpPr>
            <a:spLocks noGrp="1"/>
          </p:cNvSpPr>
          <p:nvPr/>
        </p:nvSpPr>
        <p:spPr>
          <a:xfrm>
            <a:off x="548640" y="868680"/>
            <a:ext cx="1097280" cy="0"/>
          </a:xfrm>
          <a:prstGeom prst="line">
            <a:avLst/>
          </a:prstGeom>
          <a:noFill/>
          <a:ln w="38100">
            <a:solidFill>
              <a:srgbClr val="34D399"/>
            </a:solidFill>
            <a:prstDash val="solid"/>
          </a:ln>
        </p:spPr>
        <p:txBody>
          <a:bodyPr/>
          <a:lstStyle/>
          <a:p>
            <a:endParaRPr/>
          </a:p>
        </p:txBody>
      </p:sp>
      <p:sp>
        <p:nvSpPr>
          <p:cNvPr id="5" name="Text 3">
            <a:extLst>
              <a:ext uri="{FF2B5EF4-FFF2-40B4-BE49-F238E27FC236}">
                <a16:creationId xmlns:a16="http://schemas.microsoft.com/office/drawing/2014/main" xmlns="" id="{957AD364-5289-48EF-AE4D-36B6B7C1C1BF}"/>
              </a:ext>
            </a:extLst>
          </p:cNvPr>
          <p:cNvSpPr>
            <a:spLocks noGrp="1"/>
          </p:cNvSpPr>
          <p:nvPr/>
        </p:nvSpPr>
        <p:spPr>
          <a:xfrm>
            <a:off x="548640" y="4754880"/>
            <a:ext cx="4572000" cy="274320"/>
          </a:xfrm>
          <a:prstGeom prst="rect">
            <a:avLst/>
          </a:prstGeom>
          <a:noFill/>
        </p:spPr>
        <p:txBody>
          <a:bodyPr wrap="square" lIns="0" tIns="0" rIns="0" bIns="0" anchor="ctr"/>
          <a:lstStyle/>
          <a:p>
            <a:pPr marL="0" indent="0">
              <a:buNone/>
            </a:pPr>
            <a:r>
              <a:rPr sz="1100">
                <a:solidFill>
                  <a:srgbClr val="6B7280"/>
                </a:solidFill>
              </a:rPr>
              <a:t>Vehicle Registration System</a:t>
            </a:r>
            <a:endParaRPr sz="1100"/>
          </a:p>
        </p:txBody>
      </p:sp>
      <p:sp>
        <p:nvSpPr>
          <p:cNvPr id="6" name="Text 4">
            <a:extLst>
              <a:ext uri="{FF2B5EF4-FFF2-40B4-BE49-F238E27FC236}">
                <a16:creationId xmlns:a16="http://schemas.microsoft.com/office/drawing/2014/main" xmlns="" id="{FCCC16E2-6614-41C7-BB20-D747FF458454}"/>
              </a:ext>
            </a:extLst>
          </p:cNvPr>
          <p:cNvSpPr>
            <a:spLocks noGrp="1"/>
          </p:cNvSpPr>
          <p:nvPr/>
        </p:nvSpPr>
        <p:spPr>
          <a:xfrm>
            <a:off x="8229600" y="4754880"/>
            <a:ext cx="457200" cy="274320"/>
          </a:xfrm>
          <a:prstGeom prst="rect">
            <a:avLst/>
          </a:prstGeom>
          <a:noFill/>
        </p:spPr>
        <p:txBody>
          <a:bodyPr wrap="square" lIns="0" tIns="0" rIns="0" bIns="0" anchor="ctr"/>
          <a:lstStyle/>
          <a:p>
            <a:pPr marL="0" indent="0" algn="r">
              <a:buNone/>
            </a:pPr>
            <a:r>
              <a:rPr sz="1100">
                <a:solidFill>
                  <a:srgbClr val="6B7280"/>
                </a:solidFill>
              </a:rPr>
              <a:t>4</a:t>
            </a:r>
            <a:endParaRPr sz="1100"/>
          </a:p>
        </p:txBody>
      </p:sp>
      <p:sp>
        <p:nvSpPr>
          <p:cNvPr id="7" name="Shape 5">
            <a:extLst>
              <a:ext uri="{FF2B5EF4-FFF2-40B4-BE49-F238E27FC236}">
                <a16:creationId xmlns:a16="http://schemas.microsoft.com/office/drawing/2014/main" xmlns="" id="{D53683E4-879C-4466-9D6E-C14F41476C8B}"/>
              </a:ext>
            </a:extLst>
          </p:cNvPr>
          <p:cNvSpPr>
            <a:spLocks noGrp="1"/>
          </p:cNvSpPr>
          <p:nvPr/>
        </p:nvSpPr>
        <p:spPr>
          <a:xfrm>
            <a:off x="548640" y="1097280"/>
            <a:ext cx="2560320" cy="3383280"/>
          </a:xfrm>
          <a:prstGeom prst="roundRect">
            <a:avLst>
              <a:gd name="adj" fmla="val 2857"/>
            </a:avLst>
          </a:prstGeom>
          <a:solidFill>
            <a:srgbClr val="ECFDF5"/>
          </a:solidFill>
          <a:ln w="12700">
            <a:solidFill>
              <a:srgbClr val="A7F3D0"/>
            </a:solidFill>
            <a:prstDash val="solid"/>
          </a:ln>
        </p:spPr>
        <p:txBody>
          <a:bodyPr/>
          <a:lstStyle/>
          <a:p>
            <a:endParaRPr/>
          </a:p>
        </p:txBody>
      </p:sp>
      <p:sp>
        <p:nvSpPr>
          <p:cNvPr id="8" name="Text 6">
            <a:extLst>
              <a:ext uri="{FF2B5EF4-FFF2-40B4-BE49-F238E27FC236}">
                <a16:creationId xmlns:a16="http://schemas.microsoft.com/office/drawing/2014/main" xmlns="" id="{D18D1319-C2E6-497B-A59C-A3E312CDE4FC}"/>
              </a:ext>
            </a:extLst>
          </p:cNvPr>
          <p:cNvSpPr>
            <a:spLocks noGrp="1"/>
          </p:cNvSpPr>
          <p:nvPr/>
        </p:nvSpPr>
        <p:spPr>
          <a:xfrm>
            <a:off x="731520" y="1207008"/>
            <a:ext cx="2194560" cy="365760"/>
          </a:xfrm>
          <a:prstGeom prst="rect">
            <a:avLst/>
          </a:prstGeom>
          <a:noFill/>
        </p:spPr>
        <p:txBody>
          <a:bodyPr wrap="square" lIns="0" tIns="0" rIns="0" bIns="0" anchor="ctr"/>
          <a:lstStyle/>
          <a:p>
            <a:pPr marL="0" indent="0">
              <a:buNone/>
            </a:pPr>
            <a:r>
              <a:rPr sz="1700" b="1">
                <a:solidFill>
                  <a:srgbClr val="047857"/>
                </a:solidFill>
              </a:rPr>
              <a:t>Frontend</a:t>
            </a:r>
            <a:endParaRPr sz="1700"/>
          </a:p>
        </p:txBody>
      </p:sp>
      <p:sp>
        <p:nvSpPr>
          <p:cNvPr id="9" name="Text 7">
            <a:extLst>
              <a:ext uri="{FF2B5EF4-FFF2-40B4-BE49-F238E27FC236}">
                <a16:creationId xmlns:a16="http://schemas.microsoft.com/office/drawing/2014/main" xmlns="" id="{BE9300E2-580E-407B-96C5-3EFC801E7684}"/>
              </a:ext>
            </a:extLst>
          </p:cNvPr>
          <p:cNvSpPr>
            <a:spLocks noGrp="1"/>
          </p:cNvSpPr>
          <p:nvPr/>
        </p:nvSpPr>
        <p:spPr>
          <a:xfrm>
            <a:off x="731520" y="1627632"/>
            <a:ext cx="2194560" cy="2743200"/>
          </a:xfrm>
          <a:prstGeom prst="rect">
            <a:avLst/>
          </a:prstGeom>
          <a:noFill/>
        </p:spPr>
        <p:txBody>
          <a:bodyPr wrap="square" lIns="0" tIns="0" rIns="0" bIns="0" anchor="t"/>
          <a:lstStyle/>
          <a:p>
            <a:pPr marL="342900" indent="-342900">
              <a:spcAft>
                <a:spcPts val="600"/>
              </a:spcAft>
              <a:buSzPct val="100000"/>
              <a:buChar char="•"/>
            </a:pPr>
            <a:r>
              <a:rPr sz="1500" dirty="0">
                <a:solidFill>
                  <a:srgbClr val="1F2937"/>
                </a:solidFill>
              </a:rPr>
              <a:t>React and React Router</a:t>
            </a:r>
            <a:endParaRPr sz="1500" dirty="0"/>
          </a:p>
          <a:p>
            <a:pPr marL="342900" indent="-342900">
              <a:spcAft>
                <a:spcPts val="600"/>
              </a:spcAft>
              <a:buSzPct val="100000"/>
              <a:buChar char="•"/>
            </a:pPr>
            <a:r>
              <a:rPr sz="1500" dirty="0">
                <a:solidFill>
                  <a:srgbClr val="1F2937"/>
                </a:solidFill>
              </a:rPr>
              <a:t>Create React App</a:t>
            </a:r>
          </a:p>
          <a:p>
            <a:pPr marL="342900" indent="-342900">
              <a:spcAft>
                <a:spcPts val="600"/>
              </a:spcAft>
              <a:buSzPct val="100000"/>
              <a:buChar char="•"/>
            </a:pPr>
            <a:r>
              <a:rPr sz="1500" dirty="0" smtClean="0">
                <a:solidFill>
                  <a:srgbClr val="1F2937"/>
                </a:solidFill>
              </a:rPr>
              <a:t>Bootstrap </a:t>
            </a:r>
            <a:r>
              <a:rPr sz="1500" dirty="0">
                <a:solidFill>
                  <a:srgbClr val="1F2937"/>
                </a:solidFill>
              </a:rPr>
              <a:t>CSS</a:t>
            </a:r>
          </a:p>
          <a:p>
            <a:pPr marL="342900" indent="-342900">
              <a:spcAft>
                <a:spcPts val="600"/>
              </a:spcAft>
              <a:buSzPct val="100000"/>
              <a:buChar char="•"/>
            </a:pPr>
            <a:r>
              <a:rPr sz="1500" dirty="0" err="1">
                <a:solidFill>
                  <a:srgbClr val="1F2937"/>
                </a:solidFill>
              </a:rPr>
              <a:t>sessionStorage</a:t>
            </a:r>
            <a:endParaRPr sz="1500" dirty="0">
              <a:solidFill>
                <a:srgbClr val="1F2937"/>
              </a:solidFill>
            </a:endParaRPr>
          </a:p>
        </p:txBody>
      </p:sp>
      <p:sp>
        <p:nvSpPr>
          <p:cNvPr id="10" name="Shape 8">
            <a:extLst>
              <a:ext uri="{FF2B5EF4-FFF2-40B4-BE49-F238E27FC236}">
                <a16:creationId xmlns:a16="http://schemas.microsoft.com/office/drawing/2014/main" xmlns="" id="{EE3A2E1D-2B38-4101-85DB-0065CFAAA581}"/>
              </a:ext>
            </a:extLst>
          </p:cNvPr>
          <p:cNvSpPr>
            <a:spLocks noGrp="1"/>
          </p:cNvSpPr>
          <p:nvPr/>
        </p:nvSpPr>
        <p:spPr>
          <a:xfrm>
            <a:off x="3291840" y="1097280"/>
            <a:ext cx="2560320" cy="3383280"/>
          </a:xfrm>
          <a:prstGeom prst="roundRect">
            <a:avLst>
              <a:gd name="adj" fmla="val 2857"/>
            </a:avLst>
          </a:prstGeom>
          <a:solidFill>
            <a:srgbClr val="ECFDF5"/>
          </a:solidFill>
          <a:ln w="12700">
            <a:solidFill>
              <a:srgbClr val="A7F3D0"/>
            </a:solidFill>
            <a:prstDash val="solid"/>
          </a:ln>
        </p:spPr>
        <p:txBody>
          <a:bodyPr/>
          <a:lstStyle/>
          <a:p>
            <a:endParaRPr/>
          </a:p>
        </p:txBody>
      </p:sp>
      <p:sp>
        <p:nvSpPr>
          <p:cNvPr id="11" name="Text 9">
            <a:extLst>
              <a:ext uri="{FF2B5EF4-FFF2-40B4-BE49-F238E27FC236}">
                <a16:creationId xmlns:a16="http://schemas.microsoft.com/office/drawing/2014/main" xmlns="" id="{50EA089B-2206-40EF-9A1F-42DD6D1933C0}"/>
              </a:ext>
            </a:extLst>
          </p:cNvPr>
          <p:cNvSpPr>
            <a:spLocks noGrp="1"/>
          </p:cNvSpPr>
          <p:nvPr/>
        </p:nvSpPr>
        <p:spPr>
          <a:xfrm>
            <a:off x="3474720" y="1207008"/>
            <a:ext cx="2194560" cy="365760"/>
          </a:xfrm>
          <a:prstGeom prst="rect">
            <a:avLst/>
          </a:prstGeom>
          <a:noFill/>
        </p:spPr>
        <p:txBody>
          <a:bodyPr wrap="square" lIns="0" tIns="0" rIns="0" bIns="0" anchor="ctr"/>
          <a:lstStyle/>
          <a:p>
            <a:pPr marL="0" indent="0">
              <a:buNone/>
            </a:pPr>
            <a:r>
              <a:rPr sz="1700" b="1">
                <a:solidFill>
                  <a:srgbClr val="047857"/>
                </a:solidFill>
              </a:rPr>
              <a:t>Backend</a:t>
            </a:r>
            <a:endParaRPr sz="1700"/>
          </a:p>
        </p:txBody>
      </p:sp>
      <p:sp>
        <p:nvSpPr>
          <p:cNvPr id="12" name="Text 10">
            <a:extLst>
              <a:ext uri="{FF2B5EF4-FFF2-40B4-BE49-F238E27FC236}">
                <a16:creationId xmlns:a16="http://schemas.microsoft.com/office/drawing/2014/main" xmlns="" id="{AC0A01EC-953C-4D4D-9324-F3AF9AF6F4EC}"/>
              </a:ext>
            </a:extLst>
          </p:cNvPr>
          <p:cNvSpPr>
            <a:spLocks noGrp="1"/>
          </p:cNvSpPr>
          <p:nvPr/>
        </p:nvSpPr>
        <p:spPr>
          <a:xfrm>
            <a:off x="3474720" y="1627632"/>
            <a:ext cx="2194560" cy="2743200"/>
          </a:xfrm>
          <a:prstGeom prst="rect">
            <a:avLst/>
          </a:prstGeom>
          <a:noFill/>
        </p:spPr>
        <p:txBody>
          <a:bodyPr wrap="square" lIns="0" tIns="0" rIns="0" bIns="0" anchor="t"/>
          <a:lstStyle/>
          <a:p>
            <a:pPr marL="342900" indent="-342900">
              <a:spcAft>
                <a:spcPts val="600"/>
              </a:spcAft>
              <a:buSzPct val="100000"/>
              <a:buChar char="•"/>
            </a:pPr>
            <a:r>
              <a:rPr sz="1500">
                <a:solidFill>
                  <a:srgbClr val="1F2937"/>
                </a:solidFill>
              </a:rPr>
              <a:t>Java 21</a:t>
            </a:r>
            <a:endParaRPr sz="1500"/>
          </a:p>
          <a:p>
            <a:pPr marL="342900" indent="-342900">
              <a:spcAft>
                <a:spcPts val="600"/>
              </a:spcAft>
              <a:buSzPct val="100000"/>
              <a:buChar char="•"/>
            </a:pPr>
            <a:r>
              <a:rPr sz="1500">
                <a:solidFill>
                  <a:srgbClr val="1F2937"/>
                </a:solidFill>
              </a:rPr>
              <a:t>Spring Boot 4.1.1</a:t>
            </a:r>
          </a:p>
          <a:p>
            <a:pPr marL="342900" indent="-342900">
              <a:spcAft>
                <a:spcPts val="600"/>
              </a:spcAft>
              <a:buSzPct val="100000"/>
              <a:buChar char="•"/>
            </a:pPr>
            <a:r>
              <a:rPr sz="1500">
                <a:solidFill>
                  <a:srgbClr val="1F2937"/>
                </a:solidFill>
              </a:rPr>
              <a:t>Spring Data JPA</a:t>
            </a:r>
          </a:p>
          <a:p>
            <a:pPr marL="342900" indent="-342900">
              <a:spcAft>
                <a:spcPts val="600"/>
              </a:spcAft>
              <a:buSzPct val="100000"/>
              <a:buChar char="•"/>
            </a:pPr>
            <a:r>
              <a:rPr sz="1500">
                <a:solidFill>
                  <a:srgbClr val="1F2937"/>
                </a:solidFill>
              </a:rPr>
              <a:t>Hibernate</a:t>
            </a:r>
          </a:p>
          <a:p>
            <a:pPr marL="342900" indent="-342900">
              <a:spcAft>
                <a:spcPts val="600"/>
              </a:spcAft>
              <a:buSzPct val="100000"/>
              <a:buChar char="•"/>
            </a:pPr>
            <a:r>
              <a:rPr sz="1500">
                <a:solidFill>
                  <a:srgbClr val="1F2937"/>
                </a:solidFill>
              </a:rPr>
              <a:t>Maven and JUnit</a:t>
            </a:r>
          </a:p>
        </p:txBody>
      </p:sp>
      <p:sp>
        <p:nvSpPr>
          <p:cNvPr id="13" name="Shape 11">
            <a:extLst>
              <a:ext uri="{FF2B5EF4-FFF2-40B4-BE49-F238E27FC236}">
                <a16:creationId xmlns:a16="http://schemas.microsoft.com/office/drawing/2014/main" xmlns="" id="{C6A569BB-6FED-40BC-B4F8-E1B3FFC40293}"/>
              </a:ext>
            </a:extLst>
          </p:cNvPr>
          <p:cNvSpPr>
            <a:spLocks noGrp="1"/>
          </p:cNvSpPr>
          <p:nvPr/>
        </p:nvSpPr>
        <p:spPr>
          <a:xfrm>
            <a:off x="6035040" y="1097280"/>
            <a:ext cx="2560320" cy="3383280"/>
          </a:xfrm>
          <a:prstGeom prst="roundRect">
            <a:avLst>
              <a:gd name="adj" fmla="val 2857"/>
            </a:avLst>
          </a:prstGeom>
          <a:solidFill>
            <a:srgbClr val="ECFDF5"/>
          </a:solidFill>
          <a:ln w="12700">
            <a:solidFill>
              <a:srgbClr val="A7F3D0"/>
            </a:solidFill>
            <a:prstDash val="solid"/>
          </a:ln>
        </p:spPr>
        <p:txBody>
          <a:bodyPr/>
          <a:lstStyle/>
          <a:p>
            <a:endParaRPr/>
          </a:p>
        </p:txBody>
      </p:sp>
      <p:sp>
        <p:nvSpPr>
          <p:cNvPr id="14" name="Text 12">
            <a:extLst>
              <a:ext uri="{FF2B5EF4-FFF2-40B4-BE49-F238E27FC236}">
                <a16:creationId xmlns:a16="http://schemas.microsoft.com/office/drawing/2014/main" xmlns="" id="{AB1ECD8C-0B08-4AF9-8A18-BA8F8CDDFF40}"/>
              </a:ext>
            </a:extLst>
          </p:cNvPr>
          <p:cNvSpPr>
            <a:spLocks noGrp="1"/>
          </p:cNvSpPr>
          <p:nvPr/>
        </p:nvSpPr>
        <p:spPr>
          <a:xfrm>
            <a:off x="6217920" y="1207008"/>
            <a:ext cx="2194560" cy="365760"/>
          </a:xfrm>
          <a:prstGeom prst="rect">
            <a:avLst/>
          </a:prstGeom>
          <a:noFill/>
        </p:spPr>
        <p:txBody>
          <a:bodyPr wrap="square" lIns="0" tIns="0" rIns="0" bIns="0" anchor="ctr"/>
          <a:lstStyle/>
          <a:p>
            <a:pPr marL="0" indent="0">
              <a:buNone/>
            </a:pPr>
            <a:r>
              <a:rPr sz="1700" b="1">
                <a:solidFill>
                  <a:srgbClr val="047857"/>
                </a:solidFill>
              </a:rPr>
              <a:t>Database &amp; Tools</a:t>
            </a:r>
            <a:endParaRPr sz="1700"/>
          </a:p>
        </p:txBody>
      </p:sp>
      <p:sp>
        <p:nvSpPr>
          <p:cNvPr id="15" name="Text 13">
            <a:extLst>
              <a:ext uri="{FF2B5EF4-FFF2-40B4-BE49-F238E27FC236}">
                <a16:creationId xmlns:a16="http://schemas.microsoft.com/office/drawing/2014/main" xmlns="" id="{5F50FD99-3944-4CAE-8EAE-6BBB9BCEB73D}"/>
              </a:ext>
            </a:extLst>
          </p:cNvPr>
          <p:cNvSpPr>
            <a:spLocks noGrp="1"/>
          </p:cNvSpPr>
          <p:nvPr/>
        </p:nvSpPr>
        <p:spPr>
          <a:xfrm>
            <a:off x="6217920" y="1627632"/>
            <a:ext cx="2194560" cy="2743200"/>
          </a:xfrm>
          <a:prstGeom prst="rect">
            <a:avLst/>
          </a:prstGeom>
          <a:noFill/>
        </p:spPr>
        <p:txBody>
          <a:bodyPr wrap="square" lIns="0" tIns="0" rIns="0" bIns="0" anchor="t"/>
          <a:lstStyle/>
          <a:p>
            <a:pPr marL="342900" indent="-342900">
              <a:spcAft>
                <a:spcPts val="600"/>
              </a:spcAft>
              <a:buSzPct val="100000"/>
              <a:buChar char="•"/>
            </a:pPr>
            <a:r>
              <a:rPr sz="1500">
                <a:solidFill>
                  <a:srgbClr val="1F2937"/>
                </a:solidFill>
              </a:rPr>
              <a:t>MySQL nexturn26</a:t>
            </a:r>
            <a:endParaRPr sz="1500"/>
          </a:p>
          <a:p>
            <a:pPr marL="342900" indent="-342900">
              <a:spcAft>
                <a:spcPts val="600"/>
              </a:spcAft>
              <a:buSzPct val="100000"/>
              <a:buChar char="•"/>
            </a:pPr>
            <a:r>
              <a:rPr sz="1500">
                <a:solidFill>
                  <a:srgbClr val="1F2937"/>
                </a:solidFill>
              </a:rPr>
              <a:t>Swagger / OpenAPI</a:t>
            </a:r>
          </a:p>
          <a:p>
            <a:pPr marL="342900" indent="-342900">
              <a:spcAft>
                <a:spcPts val="600"/>
              </a:spcAft>
              <a:buSzPct val="100000"/>
              <a:buChar char="•"/>
            </a:pPr>
            <a:r>
              <a:rPr sz="1500">
                <a:solidFill>
                  <a:srgbClr val="1F2937"/>
                </a:solidFill>
              </a:rPr>
              <a:t>Git and GitHub</a:t>
            </a:r>
          </a:p>
          <a:p>
            <a:pPr marL="342900" indent="-342900">
              <a:spcAft>
                <a:spcPts val="600"/>
              </a:spcAft>
              <a:buSzPct val="100000"/>
              <a:buChar char="•"/>
            </a:pPr>
            <a:r>
              <a:rPr sz="1500">
                <a:solidFill>
                  <a:srgbClr val="1F2937"/>
                </a:solidFill>
              </a:rPr>
              <a:t>Eclipse</a:t>
            </a:r>
          </a:p>
          <a:p>
            <a:pPr marL="342900" indent="-342900">
              <a:spcAft>
                <a:spcPts val="600"/>
              </a:spcAft>
              <a:buSzPct val="100000"/>
              <a:buChar char="•"/>
            </a:pPr>
            <a:r>
              <a:rPr sz="1500">
                <a:solidFill>
                  <a:srgbClr val="1F2937"/>
                </a:solidFill>
              </a:rPr>
              <a:t>VS Code</a:t>
            </a:r>
          </a:p>
        </p:txBody>
      </p:sp>
    </p:spTree>
    <p:extLst>
      <p:ext uri="{BB962C8B-B14F-4D97-AF65-F5344CB8AC3E}">
        <p14:creationId xmlns:p14="http://schemas.microsoft.com/office/powerpoint/2010/main" val="1203182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0A3CEBD2-DFFF-488B-8DAC-4D367A42899C}"/>
              </a:ext>
            </a:extLst>
          </p:cNvPr>
          <p:cNvSpPr>
            <a:spLocks noGrp="1"/>
          </p:cNvSpPr>
          <p:nvPr/>
        </p:nvSpPr>
        <p:spPr>
          <a:xfrm>
            <a:off x="0" y="0"/>
            <a:ext cx="164592" cy="5143500"/>
          </a:xfrm>
          <a:prstGeom prst="rect">
            <a:avLst/>
          </a:prstGeom>
          <a:solidFill>
            <a:srgbClr val="047857"/>
          </a:solidFill>
        </p:spPr>
        <p:txBody>
          <a:bodyPr/>
          <a:lstStyle/>
          <a:p>
            <a:endParaRPr/>
          </a:p>
        </p:txBody>
      </p:sp>
      <p:sp>
        <p:nvSpPr>
          <p:cNvPr id="3" name="Text 1">
            <a:extLst>
              <a:ext uri="{FF2B5EF4-FFF2-40B4-BE49-F238E27FC236}">
                <a16:creationId xmlns:a16="http://schemas.microsoft.com/office/drawing/2014/main" xmlns="" id="{AFE9F235-1ADE-4A74-B3A5-2B4AE9CA6983}"/>
              </a:ext>
            </a:extLst>
          </p:cNvPr>
          <p:cNvSpPr>
            <a:spLocks noGrp="1"/>
          </p:cNvSpPr>
          <p:nvPr/>
        </p:nvSpPr>
        <p:spPr>
          <a:xfrm>
            <a:off x="548640" y="274320"/>
            <a:ext cx="8046720" cy="548640"/>
          </a:xfrm>
          <a:prstGeom prst="rect">
            <a:avLst/>
          </a:prstGeom>
          <a:noFill/>
        </p:spPr>
        <p:txBody>
          <a:bodyPr wrap="square" lIns="0" tIns="0" rIns="0" bIns="0" anchor="ctr"/>
          <a:lstStyle/>
          <a:p>
            <a:pPr marL="0" indent="0">
              <a:buNone/>
            </a:pPr>
            <a:r>
              <a:rPr sz="2800" b="1">
                <a:solidFill>
                  <a:srgbClr val="047857"/>
                </a:solidFill>
              </a:rPr>
              <a:t>System Architecture</a:t>
            </a:r>
            <a:endParaRPr sz="2800"/>
          </a:p>
        </p:txBody>
      </p:sp>
      <p:sp>
        <p:nvSpPr>
          <p:cNvPr id="4" name="Shape 2">
            <a:extLst>
              <a:ext uri="{FF2B5EF4-FFF2-40B4-BE49-F238E27FC236}">
                <a16:creationId xmlns:a16="http://schemas.microsoft.com/office/drawing/2014/main" xmlns="" id="{E825A151-8C89-44DF-BCA7-5F37A36DEDD9}"/>
              </a:ext>
            </a:extLst>
          </p:cNvPr>
          <p:cNvSpPr>
            <a:spLocks noGrp="1"/>
          </p:cNvSpPr>
          <p:nvPr/>
        </p:nvSpPr>
        <p:spPr>
          <a:xfrm>
            <a:off x="548640" y="868680"/>
            <a:ext cx="1097280" cy="0"/>
          </a:xfrm>
          <a:prstGeom prst="line">
            <a:avLst/>
          </a:prstGeom>
          <a:noFill/>
          <a:ln w="38100">
            <a:solidFill>
              <a:srgbClr val="34D399"/>
            </a:solidFill>
            <a:prstDash val="solid"/>
          </a:ln>
        </p:spPr>
        <p:txBody>
          <a:bodyPr/>
          <a:lstStyle/>
          <a:p>
            <a:endParaRPr/>
          </a:p>
        </p:txBody>
      </p:sp>
      <p:sp>
        <p:nvSpPr>
          <p:cNvPr id="5" name="Text 3">
            <a:extLst>
              <a:ext uri="{FF2B5EF4-FFF2-40B4-BE49-F238E27FC236}">
                <a16:creationId xmlns:a16="http://schemas.microsoft.com/office/drawing/2014/main" xmlns="" id="{79D4CD25-9FBB-4D58-8AB9-AE333D279126}"/>
              </a:ext>
            </a:extLst>
          </p:cNvPr>
          <p:cNvSpPr>
            <a:spLocks noGrp="1"/>
          </p:cNvSpPr>
          <p:nvPr/>
        </p:nvSpPr>
        <p:spPr>
          <a:xfrm>
            <a:off x="548640" y="4754880"/>
            <a:ext cx="4572000" cy="274320"/>
          </a:xfrm>
          <a:prstGeom prst="rect">
            <a:avLst/>
          </a:prstGeom>
          <a:noFill/>
        </p:spPr>
        <p:txBody>
          <a:bodyPr wrap="square" lIns="0" tIns="0" rIns="0" bIns="0" anchor="ctr"/>
          <a:lstStyle/>
          <a:p>
            <a:pPr marL="0" indent="0">
              <a:buNone/>
            </a:pPr>
            <a:r>
              <a:rPr sz="1100">
                <a:solidFill>
                  <a:srgbClr val="6B7280"/>
                </a:solidFill>
              </a:rPr>
              <a:t>Vehicle Registration System</a:t>
            </a:r>
            <a:endParaRPr sz="1100"/>
          </a:p>
        </p:txBody>
      </p:sp>
      <p:sp>
        <p:nvSpPr>
          <p:cNvPr id="6" name="Text 4">
            <a:extLst>
              <a:ext uri="{FF2B5EF4-FFF2-40B4-BE49-F238E27FC236}">
                <a16:creationId xmlns:a16="http://schemas.microsoft.com/office/drawing/2014/main" xmlns="" id="{D32E77D5-CD0A-4B53-A299-3C4B02BA6AFD}"/>
              </a:ext>
            </a:extLst>
          </p:cNvPr>
          <p:cNvSpPr>
            <a:spLocks noGrp="1"/>
          </p:cNvSpPr>
          <p:nvPr/>
        </p:nvSpPr>
        <p:spPr>
          <a:xfrm>
            <a:off x="8229600" y="4754880"/>
            <a:ext cx="457200" cy="274320"/>
          </a:xfrm>
          <a:prstGeom prst="rect">
            <a:avLst/>
          </a:prstGeom>
          <a:noFill/>
        </p:spPr>
        <p:txBody>
          <a:bodyPr wrap="square" lIns="0" tIns="0" rIns="0" bIns="0" anchor="ctr"/>
          <a:lstStyle/>
          <a:p>
            <a:pPr marL="0" indent="0" algn="r">
              <a:buNone/>
            </a:pPr>
            <a:r>
              <a:rPr sz="1100">
                <a:solidFill>
                  <a:srgbClr val="6B7280"/>
                </a:solidFill>
              </a:rPr>
              <a:t>5</a:t>
            </a:r>
            <a:endParaRPr sz="1100"/>
          </a:p>
        </p:txBody>
      </p:sp>
      <p:sp>
        <p:nvSpPr>
          <p:cNvPr id="7" name="Shape 5">
            <a:extLst>
              <a:ext uri="{FF2B5EF4-FFF2-40B4-BE49-F238E27FC236}">
                <a16:creationId xmlns:a16="http://schemas.microsoft.com/office/drawing/2014/main" xmlns="" id="{BFFCD027-CDAF-487E-8290-765E8A3FE96B}"/>
              </a:ext>
            </a:extLst>
          </p:cNvPr>
          <p:cNvSpPr>
            <a:spLocks noGrp="1"/>
          </p:cNvSpPr>
          <p:nvPr/>
        </p:nvSpPr>
        <p:spPr>
          <a:xfrm>
            <a:off x="731520" y="1051560"/>
            <a:ext cx="3291840" cy="384048"/>
          </a:xfrm>
          <a:prstGeom prst="roundRect">
            <a:avLst>
              <a:gd name="adj" fmla="val 14286"/>
            </a:avLst>
          </a:prstGeom>
          <a:solidFill>
            <a:srgbClr val="047857"/>
          </a:solidFill>
          <a:ln w="12700">
            <a:solidFill>
              <a:srgbClr val="047857"/>
            </a:solidFill>
            <a:prstDash val="solid"/>
          </a:ln>
        </p:spPr>
        <p:txBody>
          <a:bodyPr/>
          <a:lstStyle/>
          <a:p>
            <a:endParaRPr/>
          </a:p>
        </p:txBody>
      </p:sp>
      <p:sp>
        <p:nvSpPr>
          <p:cNvPr id="8" name="Text 6">
            <a:extLst>
              <a:ext uri="{FF2B5EF4-FFF2-40B4-BE49-F238E27FC236}">
                <a16:creationId xmlns:a16="http://schemas.microsoft.com/office/drawing/2014/main" xmlns="" id="{CB7A9E6E-C9E5-429C-866E-927F11FEFFC7}"/>
              </a:ext>
            </a:extLst>
          </p:cNvPr>
          <p:cNvSpPr>
            <a:spLocks noGrp="1"/>
          </p:cNvSpPr>
          <p:nvPr/>
        </p:nvSpPr>
        <p:spPr>
          <a:xfrm>
            <a:off x="731520" y="1051560"/>
            <a:ext cx="3291840" cy="384048"/>
          </a:xfrm>
          <a:prstGeom prst="rect">
            <a:avLst/>
          </a:prstGeom>
          <a:noFill/>
        </p:spPr>
        <p:txBody>
          <a:bodyPr wrap="square" lIns="0" tIns="0" rIns="0" bIns="0" anchor="ctr"/>
          <a:lstStyle/>
          <a:p>
            <a:pPr marL="0" indent="0" algn="ctr">
              <a:buNone/>
            </a:pPr>
            <a:r>
              <a:rPr sz="1400" b="1">
                <a:solidFill>
                  <a:srgbClr val="FFFFFF"/>
                </a:solidFill>
              </a:rPr>
              <a:t>Owner or RTO employee</a:t>
            </a:r>
            <a:endParaRPr sz="1400"/>
          </a:p>
        </p:txBody>
      </p:sp>
      <p:sp>
        <p:nvSpPr>
          <p:cNvPr id="9" name="Text 7">
            <a:extLst>
              <a:ext uri="{FF2B5EF4-FFF2-40B4-BE49-F238E27FC236}">
                <a16:creationId xmlns:a16="http://schemas.microsoft.com/office/drawing/2014/main" xmlns="" id="{DB230A12-63E6-413D-952D-137348EB5D1D}"/>
              </a:ext>
            </a:extLst>
          </p:cNvPr>
          <p:cNvSpPr>
            <a:spLocks noGrp="1"/>
          </p:cNvSpPr>
          <p:nvPr/>
        </p:nvSpPr>
        <p:spPr>
          <a:xfrm>
            <a:off x="731520" y="1408176"/>
            <a:ext cx="3291840" cy="164592"/>
          </a:xfrm>
          <a:prstGeom prst="rect">
            <a:avLst/>
          </a:prstGeom>
          <a:noFill/>
        </p:spPr>
        <p:txBody>
          <a:bodyPr wrap="square" lIns="0" tIns="0" rIns="0" bIns="0" anchor="ctr"/>
          <a:lstStyle/>
          <a:p>
            <a:pPr marL="0" indent="0" algn="ctr">
              <a:buNone/>
            </a:pPr>
            <a:r>
              <a:rPr sz="1100">
                <a:solidFill>
                  <a:srgbClr val="047857"/>
                </a:solidFill>
              </a:rPr>
              <a:t>↓</a:t>
            </a:r>
            <a:endParaRPr sz="1100"/>
          </a:p>
        </p:txBody>
      </p:sp>
      <p:sp>
        <p:nvSpPr>
          <p:cNvPr id="10" name="Shape 8">
            <a:extLst>
              <a:ext uri="{FF2B5EF4-FFF2-40B4-BE49-F238E27FC236}">
                <a16:creationId xmlns:a16="http://schemas.microsoft.com/office/drawing/2014/main" xmlns="" id="{2EC18294-731C-464F-A04B-C47DD92A8E12}"/>
              </a:ext>
            </a:extLst>
          </p:cNvPr>
          <p:cNvSpPr>
            <a:spLocks noGrp="1"/>
          </p:cNvSpPr>
          <p:nvPr/>
        </p:nvSpPr>
        <p:spPr>
          <a:xfrm>
            <a:off x="731520" y="1572768"/>
            <a:ext cx="3291840" cy="384048"/>
          </a:xfrm>
          <a:prstGeom prst="roundRect">
            <a:avLst>
              <a:gd name="adj" fmla="val 14286"/>
            </a:avLst>
          </a:prstGeom>
          <a:solidFill>
            <a:srgbClr val="ECFDF5"/>
          </a:solidFill>
          <a:ln w="12700">
            <a:solidFill>
              <a:srgbClr val="047857"/>
            </a:solidFill>
            <a:prstDash val="solid"/>
          </a:ln>
        </p:spPr>
        <p:txBody>
          <a:bodyPr/>
          <a:lstStyle/>
          <a:p>
            <a:endParaRPr/>
          </a:p>
        </p:txBody>
      </p:sp>
      <p:sp>
        <p:nvSpPr>
          <p:cNvPr id="11" name="Text 9">
            <a:extLst>
              <a:ext uri="{FF2B5EF4-FFF2-40B4-BE49-F238E27FC236}">
                <a16:creationId xmlns:a16="http://schemas.microsoft.com/office/drawing/2014/main" xmlns="" id="{774FB0A8-F2A8-49EF-853B-BA946CDCDB94}"/>
              </a:ext>
            </a:extLst>
          </p:cNvPr>
          <p:cNvSpPr>
            <a:spLocks noGrp="1"/>
          </p:cNvSpPr>
          <p:nvPr/>
        </p:nvSpPr>
        <p:spPr>
          <a:xfrm>
            <a:off x="731520" y="1572768"/>
            <a:ext cx="3291840" cy="384048"/>
          </a:xfrm>
          <a:prstGeom prst="rect">
            <a:avLst/>
          </a:prstGeom>
          <a:noFill/>
        </p:spPr>
        <p:txBody>
          <a:bodyPr wrap="square" lIns="0" tIns="0" rIns="0" bIns="0" anchor="ctr"/>
          <a:lstStyle/>
          <a:p>
            <a:pPr marL="0" indent="0" algn="ctr">
              <a:buNone/>
            </a:pPr>
            <a:r>
              <a:rPr sz="1400" b="1">
                <a:solidFill>
                  <a:srgbClr val="1F2937"/>
                </a:solidFill>
              </a:rPr>
              <a:t>React Frontend</a:t>
            </a:r>
            <a:endParaRPr sz="1400"/>
          </a:p>
        </p:txBody>
      </p:sp>
      <p:sp>
        <p:nvSpPr>
          <p:cNvPr id="12" name="Text 10">
            <a:extLst>
              <a:ext uri="{FF2B5EF4-FFF2-40B4-BE49-F238E27FC236}">
                <a16:creationId xmlns:a16="http://schemas.microsoft.com/office/drawing/2014/main" xmlns="" id="{A9C8B81B-9F76-47AA-A133-8818D6EF97C2}"/>
              </a:ext>
            </a:extLst>
          </p:cNvPr>
          <p:cNvSpPr>
            <a:spLocks noGrp="1"/>
          </p:cNvSpPr>
          <p:nvPr/>
        </p:nvSpPr>
        <p:spPr>
          <a:xfrm>
            <a:off x="731520" y="1929384"/>
            <a:ext cx="3291840" cy="164592"/>
          </a:xfrm>
          <a:prstGeom prst="rect">
            <a:avLst/>
          </a:prstGeom>
          <a:noFill/>
        </p:spPr>
        <p:txBody>
          <a:bodyPr wrap="square" lIns="0" tIns="0" rIns="0" bIns="0" anchor="ctr"/>
          <a:lstStyle/>
          <a:p>
            <a:pPr marL="0" indent="0" algn="ctr">
              <a:buNone/>
            </a:pPr>
            <a:r>
              <a:rPr sz="1100">
                <a:solidFill>
                  <a:srgbClr val="047857"/>
                </a:solidFill>
              </a:rPr>
              <a:t>↓</a:t>
            </a:r>
            <a:endParaRPr sz="1100"/>
          </a:p>
        </p:txBody>
      </p:sp>
      <p:sp>
        <p:nvSpPr>
          <p:cNvPr id="13" name="Shape 11">
            <a:extLst>
              <a:ext uri="{FF2B5EF4-FFF2-40B4-BE49-F238E27FC236}">
                <a16:creationId xmlns:a16="http://schemas.microsoft.com/office/drawing/2014/main" xmlns="" id="{EAE2631B-1BAA-4264-8867-EE8B8BF9BCE9}"/>
              </a:ext>
            </a:extLst>
          </p:cNvPr>
          <p:cNvSpPr>
            <a:spLocks noGrp="1"/>
          </p:cNvSpPr>
          <p:nvPr/>
        </p:nvSpPr>
        <p:spPr>
          <a:xfrm>
            <a:off x="731520" y="2093976"/>
            <a:ext cx="3291840" cy="384048"/>
          </a:xfrm>
          <a:prstGeom prst="roundRect">
            <a:avLst>
              <a:gd name="adj" fmla="val 14286"/>
            </a:avLst>
          </a:prstGeom>
          <a:solidFill>
            <a:srgbClr val="ECFDF5"/>
          </a:solidFill>
          <a:ln w="12700">
            <a:solidFill>
              <a:srgbClr val="047857"/>
            </a:solidFill>
            <a:prstDash val="solid"/>
          </a:ln>
        </p:spPr>
        <p:txBody>
          <a:bodyPr/>
          <a:lstStyle/>
          <a:p>
            <a:endParaRPr/>
          </a:p>
        </p:txBody>
      </p:sp>
      <p:sp>
        <p:nvSpPr>
          <p:cNvPr id="14" name="Text 12">
            <a:extLst>
              <a:ext uri="{FF2B5EF4-FFF2-40B4-BE49-F238E27FC236}">
                <a16:creationId xmlns:a16="http://schemas.microsoft.com/office/drawing/2014/main" xmlns="" id="{F0BF556E-CCF3-4DCF-92AA-E7B4ADF9499E}"/>
              </a:ext>
            </a:extLst>
          </p:cNvPr>
          <p:cNvSpPr>
            <a:spLocks noGrp="1"/>
          </p:cNvSpPr>
          <p:nvPr/>
        </p:nvSpPr>
        <p:spPr>
          <a:xfrm>
            <a:off x="731520" y="2093976"/>
            <a:ext cx="3291840" cy="384048"/>
          </a:xfrm>
          <a:prstGeom prst="rect">
            <a:avLst/>
          </a:prstGeom>
          <a:noFill/>
        </p:spPr>
        <p:txBody>
          <a:bodyPr wrap="square" lIns="0" tIns="0" rIns="0" bIns="0" anchor="ctr"/>
          <a:lstStyle/>
          <a:p>
            <a:pPr marL="0" indent="0" algn="ctr">
              <a:buNone/>
            </a:pPr>
            <a:r>
              <a:rPr sz="1400" b="1">
                <a:solidFill>
                  <a:srgbClr val="1F2937"/>
                </a:solidFill>
              </a:rPr>
              <a:t>REST APIs and DTOs</a:t>
            </a:r>
            <a:endParaRPr sz="1400"/>
          </a:p>
        </p:txBody>
      </p:sp>
      <p:sp>
        <p:nvSpPr>
          <p:cNvPr id="15" name="Text 13">
            <a:extLst>
              <a:ext uri="{FF2B5EF4-FFF2-40B4-BE49-F238E27FC236}">
                <a16:creationId xmlns:a16="http://schemas.microsoft.com/office/drawing/2014/main" xmlns="" id="{EC46587B-72F7-4E8E-BBED-6C06727C18EC}"/>
              </a:ext>
            </a:extLst>
          </p:cNvPr>
          <p:cNvSpPr>
            <a:spLocks noGrp="1"/>
          </p:cNvSpPr>
          <p:nvPr/>
        </p:nvSpPr>
        <p:spPr>
          <a:xfrm>
            <a:off x="731520" y="2450592"/>
            <a:ext cx="3291840" cy="164592"/>
          </a:xfrm>
          <a:prstGeom prst="rect">
            <a:avLst/>
          </a:prstGeom>
          <a:noFill/>
        </p:spPr>
        <p:txBody>
          <a:bodyPr wrap="square" lIns="0" tIns="0" rIns="0" bIns="0" anchor="ctr"/>
          <a:lstStyle/>
          <a:p>
            <a:pPr marL="0" indent="0" algn="ctr">
              <a:buNone/>
            </a:pPr>
            <a:r>
              <a:rPr sz="1100">
                <a:solidFill>
                  <a:srgbClr val="047857"/>
                </a:solidFill>
              </a:rPr>
              <a:t>↓</a:t>
            </a:r>
            <a:endParaRPr sz="1100"/>
          </a:p>
        </p:txBody>
      </p:sp>
      <p:sp>
        <p:nvSpPr>
          <p:cNvPr id="16" name="Shape 14">
            <a:extLst>
              <a:ext uri="{FF2B5EF4-FFF2-40B4-BE49-F238E27FC236}">
                <a16:creationId xmlns:a16="http://schemas.microsoft.com/office/drawing/2014/main" xmlns="" id="{21F50D7E-969A-42E6-B11E-CB2468BA7121}"/>
              </a:ext>
            </a:extLst>
          </p:cNvPr>
          <p:cNvSpPr>
            <a:spLocks noGrp="1"/>
          </p:cNvSpPr>
          <p:nvPr/>
        </p:nvSpPr>
        <p:spPr>
          <a:xfrm>
            <a:off x="731520" y="2615184"/>
            <a:ext cx="3291840" cy="384048"/>
          </a:xfrm>
          <a:prstGeom prst="roundRect">
            <a:avLst>
              <a:gd name="adj" fmla="val 14286"/>
            </a:avLst>
          </a:prstGeom>
          <a:solidFill>
            <a:srgbClr val="ECFDF5"/>
          </a:solidFill>
          <a:ln w="12700">
            <a:solidFill>
              <a:srgbClr val="047857"/>
            </a:solidFill>
            <a:prstDash val="solid"/>
          </a:ln>
        </p:spPr>
        <p:txBody>
          <a:bodyPr/>
          <a:lstStyle/>
          <a:p>
            <a:endParaRPr/>
          </a:p>
        </p:txBody>
      </p:sp>
      <p:sp>
        <p:nvSpPr>
          <p:cNvPr id="17" name="Text 15">
            <a:extLst>
              <a:ext uri="{FF2B5EF4-FFF2-40B4-BE49-F238E27FC236}">
                <a16:creationId xmlns:a16="http://schemas.microsoft.com/office/drawing/2014/main" xmlns="" id="{F86AA543-6C3F-4C79-865E-4BCC6DD081D5}"/>
              </a:ext>
            </a:extLst>
          </p:cNvPr>
          <p:cNvSpPr>
            <a:spLocks noGrp="1"/>
          </p:cNvSpPr>
          <p:nvPr/>
        </p:nvSpPr>
        <p:spPr>
          <a:xfrm>
            <a:off x="731520" y="2615184"/>
            <a:ext cx="3291840" cy="384048"/>
          </a:xfrm>
          <a:prstGeom prst="rect">
            <a:avLst/>
          </a:prstGeom>
          <a:noFill/>
        </p:spPr>
        <p:txBody>
          <a:bodyPr wrap="square" lIns="0" tIns="0" rIns="0" bIns="0" anchor="ctr"/>
          <a:lstStyle/>
          <a:p>
            <a:pPr marL="0" indent="0" algn="ctr">
              <a:buNone/>
            </a:pPr>
            <a:r>
              <a:rPr sz="1400" b="1">
                <a:solidFill>
                  <a:srgbClr val="1F2937"/>
                </a:solidFill>
              </a:rPr>
              <a:t>Spring Boot Controller</a:t>
            </a:r>
            <a:endParaRPr sz="1400"/>
          </a:p>
        </p:txBody>
      </p:sp>
      <p:sp>
        <p:nvSpPr>
          <p:cNvPr id="18" name="Text 16">
            <a:extLst>
              <a:ext uri="{FF2B5EF4-FFF2-40B4-BE49-F238E27FC236}">
                <a16:creationId xmlns:a16="http://schemas.microsoft.com/office/drawing/2014/main" xmlns="" id="{4052037E-CB27-4AA1-89E6-619C8E1C2837}"/>
              </a:ext>
            </a:extLst>
          </p:cNvPr>
          <p:cNvSpPr>
            <a:spLocks noGrp="1"/>
          </p:cNvSpPr>
          <p:nvPr/>
        </p:nvSpPr>
        <p:spPr>
          <a:xfrm>
            <a:off x="731520" y="2971800"/>
            <a:ext cx="3291840" cy="164592"/>
          </a:xfrm>
          <a:prstGeom prst="rect">
            <a:avLst/>
          </a:prstGeom>
          <a:noFill/>
        </p:spPr>
        <p:txBody>
          <a:bodyPr wrap="square" lIns="0" tIns="0" rIns="0" bIns="0" anchor="ctr"/>
          <a:lstStyle/>
          <a:p>
            <a:pPr marL="0" indent="0" algn="ctr">
              <a:buNone/>
            </a:pPr>
            <a:r>
              <a:rPr sz="1100">
                <a:solidFill>
                  <a:srgbClr val="047857"/>
                </a:solidFill>
              </a:rPr>
              <a:t>↓</a:t>
            </a:r>
            <a:endParaRPr sz="1100"/>
          </a:p>
        </p:txBody>
      </p:sp>
      <p:sp>
        <p:nvSpPr>
          <p:cNvPr id="19" name="Shape 17">
            <a:extLst>
              <a:ext uri="{FF2B5EF4-FFF2-40B4-BE49-F238E27FC236}">
                <a16:creationId xmlns:a16="http://schemas.microsoft.com/office/drawing/2014/main" xmlns="" id="{8C1AF8E4-D977-4D9E-97F2-C8307D9E72D0}"/>
              </a:ext>
            </a:extLst>
          </p:cNvPr>
          <p:cNvSpPr>
            <a:spLocks noGrp="1"/>
          </p:cNvSpPr>
          <p:nvPr/>
        </p:nvSpPr>
        <p:spPr>
          <a:xfrm>
            <a:off x="731520" y="3136392"/>
            <a:ext cx="3291840" cy="384048"/>
          </a:xfrm>
          <a:prstGeom prst="roundRect">
            <a:avLst>
              <a:gd name="adj" fmla="val 14286"/>
            </a:avLst>
          </a:prstGeom>
          <a:solidFill>
            <a:srgbClr val="ECFDF5"/>
          </a:solidFill>
          <a:ln w="12700">
            <a:solidFill>
              <a:srgbClr val="047857"/>
            </a:solidFill>
            <a:prstDash val="solid"/>
          </a:ln>
        </p:spPr>
        <p:txBody>
          <a:bodyPr/>
          <a:lstStyle/>
          <a:p>
            <a:endParaRPr/>
          </a:p>
        </p:txBody>
      </p:sp>
      <p:sp>
        <p:nvSpPr>
          <p:cNvPr id="20" name="Text 18">
            <a:extLst>
              <a:ext uri="{FF2B5EF4-FFF2-40B4-BE49-F238E27FC236}">
                <a16:creationId xmlns:a16="http://schemas.microsoft.com/office/drawing/2014/main" xmlns="" id="{A390CEAB-D586-494B-8A41-0D14086AA7A4}"/>
              </a:ext>
            </a:extLst>
          </p:cNvPr>
          <p:cNvSpPr>
            <a:spLocks noGrp="1"/>
          </p:cNvSpPr>
          <p:nvPr/>
        </p:nvSpPr>
        <p:spPr>
          <a:xfrm>
            <a:off x="731520" y="3136392"/>
            <a:ext cx="3291840" cy="384048"/>
          </a:xfrm>
          <a:prstGeom prst="rect">
            <a:avLst/>
          </a:prstGeom>
          <a:noFill/>
        </p:spPr>
        <p:txBody>
          <a:bodyPr wrap="square" lIns="0" tIns="0" rIns="0" bIns="0" anchor="ctr"/>
          <a:lstStyle/>
          <a:p>
            <a:pPr marL="0" indent="0" algn="ctr">
              <a:buNone/>
            </a:pPr>
            <a:r>
              <a:rPr sz="1400" b="1">
                <a:solidFill>
                  <a:srgbClr val="1F2937"/>
                </a:solidFill>
              </a:rPr>
              <a:t>Service interface and implementation</a:t>
            </a:r>
            <a:endParaRPr sz="1400"/>
          </a:p>
        </p:txBody>
      </p:sp>
      <p:sp>
        <p:nvSpPr>
          <p:cNvPr id="21" name="Text 19">
            <a:extLst>
              <a:ext uri="{FF2B5EF4-FFF2-40B4-BE49-F238E27FC236}">
                <a16:creationId xmlns:a16="http://schemas.microsoft.com/office/drawing/2014/main" xmlns="" id="{8A011461-50A6-4D41-9357-F1871A839270}"/>
              </a:ext>
            </a:extLst>
          </p:cNvPr>
          <p:cNvSpPr>
            <a:spLocks noGrp="1"/>
          </p:cNvSpPr>
          <p:nvPr/>
        </p:nvSpPr>
        <p:spPr>
          <a:xfrm>
            <a:off x="731520" y="3493008"/>
            <a:ext cx="3291840" cy="164592"/>
          </a:xfrm>
          <a:prstGeom prst="rect">
            <a:avLst/>
          </a:prstGeom>
          <a:noFill/>
        </p:spPr>
        <p:txBody>
          <a:bodyPr wrap="square" lIns="0" tIns="0" rIns="0" bIns="0" anchor="ctr"/>
          <a:lstStyle/>
          <a:p>
            <a:pPr marL="0" indent="0" algn="ctr">
              <a:buNone/>
            </a:pPr>
            <a:r>
              <a:rPr sz="1100">
                <a:solidFill>
                  <a:srgbClr val="047857"/>
                </a:solidFill>
              </a:rPr>
              <a:t>↓</a:t>
            </a:r>
            <a:endParaRPr sz="1100"/>
          </a:p>
        </p:txBody>
      </p:sp>
      <p:sp>
        <p:nvSpPr>
          <p:cNvPr id="22" name="Shape 20">
            <a:extLst>
              <a:ext uri="{FF2B5EF4-FFF2-40B4-BE49-F238E27FC236}">
                <a16:creationId xmlns:a16="http://schemas.microsoft.com/office/drawing/2014/main" xmlns="" id="{216B4035-51BB-4684-A483-A368701D6644}"/>
              </a:ext>
            </a:extLst>
          </p:cNvPr>
          <p:cNvSpPr>
            <a:spLocks noGrp="1"/>
          </p:cNvSpPr>
          <p:nvPr/>
        </p:nvSpPr>
        <p:spPr>
          <a:xfrm>
            <a:off x="731520" y="3657600"/>
            <a:ext cx="3291840" cy="384048"/>
          </a:xfrm>
          <a:prstGeom prst="roundRect">
            <a:avLst>
              <a:gd name="adj" fmla="val 14286"/>
            </a:avLst>
          </a:prstGeom>
          <a:solidFill>
            <a:srgbClr val="ECFDF5"/>
          </a:solidFill>
          <a:ln w="12700">
            <a:solidFill>
              <a:srgbClr val="047857"/>
            </a:solidFill>
            <a:prstDash val="solid"/>
          </a:ln>
        </p:spPr>
        <p:txBody>
          <a:bodyPr/>
          <a:lstStyle/>
          <a:p>
            <a:endParaRPr/>
          </a:p>
        </p:txBody>
      </p:sp>
      <p:sp>
        <p:nvSpPr>
          <p:cNvPr id="23" name="Text 21">
            <a:extLst>
              <a:ext uri="{FF2B5EF4-FFF2-40B4-BE49-F238E27FC236}">
                <a16:creationId xmlns:a16="http://schemas.microsoft.com/office/drawing/2014/main" xmlns="" id="{09905EC8-29A1-4BF7-A992-5F500D7069BF}"/>
              </a:ext>
            </a:extLst>
          </p:cNvPr>
          <p:cNvSpPr>
            <a:spLocks noGrp="1"/>
          </p:cNvSpPr>
          <p:nvPr/>
        </p:nvSpPr>
        <p:spPr>
          <a:xfrm>
            <a:off x="731520" y="3657600"/>
            <a:ext cx="3291840" cy="384048"/>
          </a:xfrm>
          <a:prstGeom prst="rect">
            <a:avLst/>
          </a:prstGeom>
          <a:noFill/>
        </p:spPr>
        <p:txBody>
          <a:bodyPr wrap="square" lIns="0" tIns="0" rIns="0" bIns="0" anchor="ctr"/>
          <a:lstStyle/>
          <a:p>
            <a:pPr marL="0" indent="0" algn="ctr">
              <a:buNone/>
            </a:pPr>
            <a:r>
              <a:rPr sz="1400" b="1">
                <a:solidFill>
                  <a:srgbClr val="1F2937"/>
                </a:solidFill>
              </a:rPr>
              <a:t>Repository Layer</a:t>
            </a:r>
            <a:endParaRPr sz="1400"/>
          </a:p>
        </p:txBody>
      </p:sp>
      <p:sp>
        <p:nvSpPr>
          <p:cNvPr id="24" name="Text 22">
            <a:extLst>
              <a:ext uri="{FF2B5EF4-FFF2-40B4-BE49-F238E27FC236}">
                <a16:creationId xmlns:a16="http://schemas.microsoft.com/office/drawing/2014/main" xmlns="" id="{8149F935-78DC-4897-B68C-6B17043A5D3E}"/>
              </a:ext>
            </a:extLst>
          </p:cNvPr>
          <p:cNvSpPr>
            <a:spLocks noGrp="1"/>
          </p:cNvSpPr>
          <p:nvPr/>
        </p:nvSpPr>
        <p:spPr>
          <a:xfrm>
            <a:off x="731520" y="4014216"/>
            <a:ext cx="3291840" cy="164592"/>
          </a:xfrm>
          <a:prstGeom prst="rect">
            <a:avLst/>
          </a:prstGeom>
          <a:noFill/>
        </p:spPr>
        <p:txBody>
          <a:bodyPr wrap="square" lIns="0" tIns="0" rIns="0" bIns="0" anchor="ctr"/>
          <a:lstStyle/>
          <a:p>
            <a:pPr marL="0" indent="0" algn="ctr">
              <a:buNone/>
            </a:pPr>
            <a:r>
              <a:rPr sz="1100">
                <a:solidFill>
                  <a:srgbClr val="047857"/>
                </a:solidFill>
              </a:rPr>
              <a:t>↓</a:t>
            </a:r>
            <a:endParaRPr sz="1100"/>
          </a:p>
        </p:txBody>
      </p:sp>
      <p:sp>
        <p:nvSpPr>
          <p:cNvPr id="25" name="Shape 23">
            <a:extLst>
              <a:ext uri="{FF2B5EF4-FFF2-40B4-BE49-F238E27FC236}">
                <a16:creationId xmlns:a16="http://schemas.microsoft.com/office/drawing/2014/main" xmlns="" id="{92E58888-AFB8-496C-9497-427CE6BEB66B}"/>
              </a:ext>
            </a:extLst>
          </p:cNvPr>
          <p:cNvSpPr>
            <a:spLocks noGrp="1"/>
          </p:cNvSpPr>
          <p:nvPr/>
        </p:nvSpPr>
        <p:spPr>
          <a:xfrm>
            <a:off x="731520" y="4178808"/>
            <a:ext cx="3291840" cy="384048"/>
          </a:xfrm>
          <a:prstGeom prst="roundRect">
            <a:avLst>
              <a:gd name="adj" fmla="val 14286"/>
            </a:avLst>
          </a:prstGeom>
          <a:solidFill>
            <a:srgbClr val="047857"/>
          </a:solidFill>
          <a:ln w="12700">
            <a:solidFill>
              <a:srgbClr val="047857"/>
            </a:solidFill>
            <a:prstDash val="solid"/>
          </a:ln>
        </p:spPr>
        <p:txBody>
          <a:bodyPr/>
          <a:lstStyle/>
          <a:p>
            <a:endParaRPr/>
          </a:p>
        </p:txBody>
      </p:sp>
      <p:sp>
        <p:nvSpPr>
          <p:cNvPr id="26" name="Text 24">
            <a:extLst>
              <a:ext uri="{FF2B5EF4-FFF2-40B4-BE49-F238E27FC236}">
                <a16:creationId xmlns:a16="http://schemas.microsoft.com/office/drawing/2014/main" xmlns="" id="{4159D763-88F5-4359-B196-6FFF38B078F8}"/>
              </a:ext>
            </a:extLst>
          </p:cNvPr>
          <p:cNvSpPr>
            <a:spLocks noGrp="1"/>
          </p:cNvSpPr>
          <p:nvPr/>
        </p:nvSpPr>
        <p:spPr>
          <a:xfrm>
            <a:off x="731520" y="4178808"/>
            <a:ext cx="3291840" cy="384048"/>
          </a:xfrm>
          <a:prstGeom prst="rect">
            <a:avLst/>
          </a:prstGeom>
          <a:noFill/>
        </p:spPr>
        <p:txBody>
          <a:bodyPr wrap="square" lIns="0" tIns="0" rIns="0" bIns="0" anchor="ctr"/>
          <a:lstStyle/>
          <a:p>
            <a:pPr marL="0" indent="0" algn="ctr">
              <a:buNone/>
            </a:pPr>
            <a:r>
              <a:rPr sz="1400" b="1">
                <a:solidFill>
                  <a:srgbClr val="FFFFFF"/>
                </a:solidFill>
              </a:rPr>
              <a:t>JPA / Hibernate and MySQL</a:t>
            </a:r>
            <a:endParaRPr sz="1400"/>
          </a:p>
        </p:txBody>
      </p:sp>
      <p:sp>
        <p:nvSpPr>
          <p:cNvPr id="27" name="Shape 25">
            <a:extLst>
              <a:ext uri="{FF2B5EF4-FFF2-40B4-BE49-F238E27FC236}">
                <a16:creationId xmlns:a16="http://schemas.microsoft.com/office/drawing/2014/main" xmlns="" id="{656A4DCE-6CDD-4C4E-A4CF-B92B3825B146}"/>
              </a:ext>
            </a:extLst>
          </p:cNvPr>
          <p:cNvSpPr>
            <a:spLocks noGrp="1"/>
          </p:cNvSpPr>
          <p:nvPr/>
        </p:nvSpPr>
        <p:spPr>
          <a:xfrm>
            <a:off x="4572000" y="1371600"/>
            <a:ext cx="4023360" cy="2377440"/>
          </a:xfrm>
          <a:prstGeom prst="roundRect">
            <a:avLst>
              <a:gd name="adj" fmla="val 3077"/>
            </a:avLst>
          </a:prstGeom>
          <a:solidFill>
            <a:srgbClr val="ECFDF5"/>
          </a:solidFill>
          <a:ln w="12700">
            <a:solidFill>
              <a:srgbClr val="A7F3D0"/>
            </a:solidFill>
            <a:prstDash val="solid"/>
          </a:ln>
        </p:spPr>
        <p:txBody>
          <a:bodyPr/>
          <a:lstStyle/>
          <a:p>
            <a:endParaRPr/>
          </a:p>
        </p:txBody>
      </p:sp>
      <p:sp>
        <p:nvSpPr>
          <p:cNvPr id="28" name="Text 26">
            <a:extLst>
              <a:ext uri="{FF2B5EF4-FFF2-40B4-BE49-F238E27FC236}">
                <a16:creationId xmlns:a16="http://schemas.microsoft.com/office/drawing/2014/main" xmlns="" id="{5EF3713F-65EC-4885-AACA-7B5D6137E4C3}"/>
              </a:ext>
            </a:extLst>
          </p:cNvPr>
          <p:cNvSpPr>
            <a:spLocks noGrp="1"/>
          </p:cNvSpPr>
          <p:nvPr/>
        </p:nvSpPr>
        <p:spPr>
          <a:xfrm>
            <a:off x="4800600" y="1508760"/>
            <a:ext cx="3566160" cy="365760"/>
          </a:xfrm>
          <a:prstGeom prst="rect">
            <a:avLst/>
          </a:prstGeom>
          <a:noFill/>
        </p:spPr>
        <p:txBody>
          <a:bodyPr wrap="square" lIns="0" tIns="0" rIns="0" bIns="0" anchor="ctr"/>
          <a:lstStyle/>
          <a:p>
            <a:pPr marL="0" indent="0">
              <a:buNone/>
            </a:pPr>
            <a:r>
              <a:rPr sz="1800" b="1">
                <a:solidFill>
                  <a:srgbClr val="047857"/>
                </a:solidFill>
              </a:rPr>
              <a:t>Separation of concerns</a:t>
            </a:r>
            <a:endParaRPr sz="1800"/>
          </a:p>
        </p:txBody>
      </p:sp>
      <p:sp>
        <p:nvSpPr>
          <p:cNvPr id="29" name="Text 27">
            <a:extLst>
              <a:ext uri="{FF2B5EF4-FFF2-40B4-BE49-F238E27FC236}">
                <a16:creationId xmlns:a16="http://schemas.microsoft.com/office/drawing/2014/main" xmlns="" id="{11DBCBF0-641B-421F-A2DF-886EC7028076}"/>
              </a:ext>
            </a:extLst>
          </p:cNvPr>
          <p:cNvSpPr>
            <a:spLocks noGrp="1"/>
          </p:cNvSpPr>
          <p:nvPr/>
        </p:nvSpPr>
        <p:spPr>
          <a:xfrm>
            <a:off x="4800600" y="1965960"/>
            <a:ext cx="3566160" cy="1645920"/>
          </a:xfrm>
          <a:prstGeom prst="rect">
            <a:avLst/>
          </a:prstGeom>
          <a:noFill/>
        </p:spPr>
        <p:txBody>
          <a:bodyPr wrap="square" lIns="0" tIns="0" rIns="0" bIns="0" anchor="t"/>
          <a:lstStyle/>
          <a:p>
            <a:pPr marL="342900" indent="-342900">
              <a:spcAft>
                <a:spcPts val="600"/>
              </a:spcAft>
              <a:buSzPct val="100000"/>
              <a:buChar char="•"/>
            </a:pPr>
            <a:r>
              <a:rPr sz="1500">
                <a:solidFill>
                  <a:srgbClr val="1F2937"/>
                </a:solidFill>
              </a:rPr>
              <a:t>React manages forms and navigation</a:t>
            </a:r>
            <a:endParaRPr sz="1500"/>
          </a:p>
          <a:p>
            <a:pPr marL="342900" indent="-342900">
              <a:spcAft>
                <a:spcPts val="600"/>
              </a:spcAft>
              <a:buSzPct val="100000"/>
              <a:buChar char="•"/>
            </a:pPr>
            <a:r>
              <a:rPr sz="1500">
                <a:solidFill>
                  <a:srgbClr val="1F2937"/>
                </a:solidFill>
              </a:rPr>
              <a:t>Controllers validate request DTOs</a:t>
            </a:r>
          </a:p>
          <a:p>
            <a:pPr marL="342900" indent="-342900">
              <a:spcAft>
                <a:spcPts val="600"/>
              </a:spcAft>
              <a:buSzPct val="100000"/>
              <a:buChar char="•"/>
            </a:pPr>
            <a:r>
              <a:rPr sz="1500">
                <a:solidFill>
                  <a:srgbClr val="1F2937"/>
                </a:solidFill>
              </a:rPr>
              <a:t>Service implementations apply business rules</a:t>
            </a:r>
          </a:p>
          <a:p>
            <a:pPr marL="342900" indent="-342900">
              <a:spcAft>
                <a:spcPts val="600"/>
              </a:spcAft>
              <a:buSzPct val="100000"/>
              <a:buChar char="•"/>
            </a:pPr>
            <a:r>
              <a:rPr sz="1500">
                <a:solidFill>
                  <a:srgbClr val="1F2937"/>
                </a:solidFill>
              </a:rPr>
              <a:t>Repositories persist data through JPA</a:t>
            </a:r>
          </a:p>
        </p:txBody>
      </p:sp>
    </p:spTree>
    <p:extLst>
      <p:ext uri="{BB962C8B-B14F-4D97-AF65-F5344CB8AC3E}">
        <p14:creationId xmlns:p14="http://schemas.microsoft.com/office/powerpoint/2010/main" val="1307551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BD3A1C4D-15AD-4765-9B3D-DA9728C6A7F9}"/>
              </a:ext>
            </a:extLst>
          </p:cNvPr>
          <p:cNvSpPr>
            <a:spLocks noGrp="1"/>
          </p:cNvSpPr>
          <p:nvPr/>
        </p:nvSpPr>
        <p:spPr>
          <a:xfrm>
            <a:off x="0" y="0"/>
            <a:ext cx="164592" cy="5143500"/>
          </a:xfrm>
          <a:prstGeom prst="rect">
            <a:avLst/>
          </a:prstGeom>
          <a:solidFill>
            <a:srgbClr val="047857"/>
          </a:solidFill>
        </p:spPr>
        <p:txBody>
          <a:bodyPr/>
          <a:lstStyle/>
          <a:p>
            <a:endParaRPr/>
          </a:p>
        </p:txBody>
      </p:sp>
      <p:sp>
        <p:nvSpPr>
          <p:cNvPr id="3" name="Text 1">
            <a:extLst>
              <a:ext uri="{FF2B5EF4-FFF2-40B4-BE49-F238E27FC236}">
                <a16:creationId xmlns:a16="http://schemas.microsoft.com/office/drawing/2014/main" xmlns="" id="{6BB04F9C-EB20-4A67-B667-08B8C7981552}"/>
              </a:ext>
            </a:extLst>
          </p:cNvPr>
          <p:cNvSpPr>
            <a:spLocks noGrp="1"/>
          </p:cNvSpPr>
          <p:nvPr/>
        </p:nvSpPr>
        <p:spPr>
          <a:xfrm>
            <a:off x="548640" y="274320"/>
            <a:ext cx="8046720" cy="548640"/>
          </a:xfrm>
          <a:prstGeom prst="rect">
            <a:avLst/>
          </a:prstGeom>
          <a:noFill/>
        </p:spPr>
        <p:txBody>
          <a:bodyPr wrap="square" lIns="0" tIns="0" rIns="0" bIns="0" anchor="ctr"/>
          <a:lstStyle/>
          <a:p>
            <a:pPr marL="0" indent="0">
              <a:buNone/>
            </a:pPr>
            <a:r>
              <a:rPr sz="2800" b="1">
                <a:solidFill>
                  <a:srgbClr val="047857"/>
                </a:solidFill>
              </a:rPr>
              <a:t>Modules &amp; Functionality</a:t>
            </a:r>
            <a:endParaRPr sz="2800"/>
          </a:p>
        </p:txBody>
      </p:sp>
      <p:sp>
        <p:nvSpPr>
          <p:cNvPr id="4" name="Shape 2">
            <a:extLst>
              <a:ext uri="{FF2B5EF4-FFF2-40B4-BE49-F238E27FC236}">
                <a16:creationId xmlns:a16="http://schemas.microsoft.com/office/drawing/2014/main" xmlns="" id="{97302FBD-709B-4BDD-8A02-5D0C5D02FAF5}"/>
              </a:ext>
            </a:extLst>
          </p:cNvPr>
          <p:cNvSpPr>
            <a:spLocks noGrp="1"/>
          </p:cNvSpPr>
          <p:nvPr/>
        </p:nvSpPr>
        <p:spPr>
          <a:xfrm>
            <a:off x="548640" y="868680"/>
            <a:ext cx="1097280" cy="0"/>
          </a:xfrm>
          <a:prstGeom prst="line">
            <a:avLst/>
          </a:prstGeom>
          <a:noFill/>
          <a:ln w="38100">
            <a:solidFill>
              <a:srgbClr val="34D399"/>
            </a:solidFill>
            <a:prstDash val="solid"/>
          </a:ln>
        </p:spPr>
        <p:txBody>
          <a:bodyPr/>
          <a:lstStyle/>
          <a:p>
            <a:endParaRPr/>
          </a:p>
        </p:txBody>
      </p:sp>
      <p:sp>
        <p:nvSpPr>
          <p:cNvPr id="5" name="Text 3">
            <a:extLst>
              <a:ext uri="{FF2B5EF4-FFF2-40B4-BE49-F238E27FC236}">
                <a16:creationId xmlns:a16="http://schemas.microsoft.com/office/drawing/2014/main" xmlns="" id="{690C3B1C-E025-4276-915E-8446A0CAD274}"/>
              </a:ext>
            </a:extLst>
          </p:cNvPr>
          <p:cNvSpPr>
            <a:spLocks noGrp="1"/>
          </p:cNvSpPr>
          <p:nvPr/>
        </p:nvSpPr>
        <p:spPr>
          <a:xfrm>
            <a:off x="548640" y="4754880"/>
            <a:ext cx="4572000" cy="274320"/>
          </a:xfrm>
          <a:prstGeom prst="rect">
            <a:avLst/>
          </a:prstGeom>
          <a:noFill/>
        </p:spPr>
        <p:txBody>
          <a:bodyPr wrap="square" lIns="0" tIns="0" rIns="0" bIns="0" anchor="ctr"/>
          <a:lstStyle/>
          <a:p>
            <a:pPr marL="0" indent="0">
              <a:buNone/>
            </a:pPr>
            <a:r>
              <a:rPr sz="1100">
                <a:solidFill>
                  <a:srgbClr val="6B7280"/>
                </a:solidFill>
              </a:rPr>
              <a:t>Vehicle Registration System</a:t>
            </a:r>
            <a:endParaRPr sz="1100"/>
          </a:p>
        </p:txBody>
      </p:sp>
      <p:sp>
        <p:nvSpPr>
          <p:cNvPr id="6" name="Text 4">
            <a:extLst>
              <a:ext uri="{FF2B5EF4-FFF2-40B4-BE49-F238E27FC236}">
                <a16:creationId xmlns:a16="http://schemas.microsoft.com/office/drawing/2014/main" xmlns="" id="{5BDEB9AB-BC96-471F-B62D-41B5936DCD27}"/>
              </a:ext>
            </a:extLst>
          </p:cNvPr>
          <p:cNvSpPr>
            <a:spLocks noGrp="1"/>
          </p:cNvSpPr>
          <p:nvPr/>
        </p:nvSpPr>
        <p:spPr>
          <a:xfrm>
            <a:off x="8229600" y="4754880"/>
            <a:ext cx="457200" cy="274320"/>
          </a:xfrm>
          <a:prstGeom prst="rect">
            <a:avLst/>
          </a:prstGeom>
          <a:noFill/>
        </p:spPr>
        <p:txBody>
          <a:bodyPr wrap="square" lIns="0" tIns="0" rIns="0" bIns="0" anchor="ctr"/>
          <a:lstStyle/>
          <a:p>
            <a:pPr marL="0" indent="0" algn="r">
              <a:buNone/>
            </a:pPr>
            <a:r>
              <a:rPr sz="1100">
                <a:solidFill>
                  <a:srgbClr val="6B7280"/>
                </a:solidFill>
              </a:rPr>
              <a:t>6</a:t>
            </a:r>
            <a:endParaRPr sz="1100"/>
          </a:p>
        </p:txBody>
      </p:sp>
      <p:sp>
        <p:nvSpPr>
          <p:cNvPr id="7" name="Shape 5">
            <a:extLst>
              <a:ext uri="{FF2B5EF4-FFF2-40B4-BE49-F238E27FC236}">
                <a16:creationId xmlns:a16="http://schemas.microsoft.com/office/drawing/2014/main" xmlns="" id="{E3F81E31-4F08-4CE4-8020-09AAD56B443E}"/>
              </a:ext>
            </a:extLst>
          </p:cNvPr>
          <p:cNvSpPr>
            <a:spLocks noGrp="1"/>
          </p:cNvSpPr>
          <p:nvPr/>
        </p:nvSpPr>
        <p:spPr>
          <a:xfrm>
            <a:off x="548640" y="1097280"/>
            <a:ext cx="2560320" cy="3383280"/>
          </a:xfrm>
          <a:prstGeom prst="roundRect">
            <a:avLst>
              <a:gd name="adj" fmla="val 2857"/>
            </a:avLst>
          </a:prstGeom>
          <a:solidFill>
            <a:srgbClr val="ECFDF5"/>
          </a:solidFill>
          <a:ln w="12700">
            <a:solidFill>
              <a:srgbClr val="A7F3D0"/>
            </a:solidFill>
            <a:prstDash val="solid"/>
          </a:ln>
        </p:spPr>
        <p:txBody>
          <a:bodyPr/>
          <a:lstStyle/>
          <a:p>
            <a:endParaRPr/>
          </a:p>
        </p:txBody>
      </p:sp>
      <p:sp>
        <p:nvSpPr>
          <p:cNvPr id="8" name="Text 6">
            <a:extLst>
              <a:ext uri="{FF2B5EF4-FFF2-40B4-BE49-F238E27FC236}">
                <a16:creationId xmlns:a16="http://schemas.microsoft.com/office/drawing/2014/main" xmlns="" id="{4FD6FA03-2FD5-4BAE-8D28-FC84D71825D9}"/>
              </a:ext>
            </a:extLst>
          </p:cNvPr>
          <p:cNvSpPr>
            <a:spLocks noGrp="1"/>
          </p:cNvSpPr>
          <p:nvPr/>
        </p:nvSpPr>
        <p:spPr>
          <a:xfrm>
            <a:off x="731520" y="1207008"/>
            <a:ext cx="2194560" cy="365760"/>
          </a:xfrm>
          <a:prstGeom prst="rect">
            <a:avLst/>
          </a:prstGeom>
          <a:noFill/>
        </p:spPr>
        <p:txBody>
          <a:bodyPr wrap="square" lIns="0" tIns="0" rIns="0" bIns="0" anchor="ctr"/>
          <a:lstStyle/>
          <a:p>
            <a:pPr marL="0" indent="0">
              <a:buNone/>
            </a:pPr>
            <a:r>
              <a:rPr sz="1700" b="1">
                <a:solidFill>
                  <a:srgbClr val="047857"/>
                </a:solidFill>
              </a:rPr>
              <a:t>Vehicle owner</a:t>
            </a:r>
            <a:endParaRPr sz="1700"/>
          </a:p>
        </p:txBody>
      </p:sp>
      <p:sp>
        <p:nvSpPr>
          <p:cNvPr id="9" name="Text 7">
            <a:extLst>
              <a:ext uri="{FF2B5EF4-FFF2-40B4-BE49-F238E27FC236}">
                <a16:creationId xmlns:a16="http://schemas.microsoft.com/office/drawing/2014/main" xmlns="" id="{97CDC806-773C-4DCE-9388-BD6BBDA2503B}"/>
              </a:ext>
            </a:extLst>
          </p:cNvPr>
          <p:cNvSpPr>
            <a:spLocks noGrp="1"/>
          </p:cNvSpPr>
          <p:nvPr/>
        </p:nvSpPr>
        <p:spPr>
          <a:xfrm>
            <a:off x="731520" y="1627632"/>
            <a:ext cx="2194560" cy="2743200"/>
          </a:xfrm>
          <a:prstGeom prst="rect">
            <a:avLst/>
          </a:prstGeom>
          <a:noFill/>
        </p:spPr>
        <p:txBody>
          <a:bodyPr wrap="square" lIns="0" tIns="0" rIns="0" bIns="0" anchor="t"/>
          <a:lstStyle/>
          <a:p>
            <a:pPr marL="342900" indent="-342900">
              <a:spcAft>
                <a:spcPts val="600"/>
              </a:spcAft>
              <a:buSzPct val="100000"/>
              <a:buChar char="•"/>
            </a:pPr>
            <a:r>
              <a:rPr sz="1400">
                <a:solidFill>
                  <a:srgbClr val="1F2937"/>
                </a:solidFill>
              </a:rPr>
              <a:t>Signup and login</a:t>
            </a:r>
            <a:endParaRPr sz="1400"/>
          </a:p>
          <a:p>
            <a:pPr marL="342900" indent="-342900">
              <a:spcAft>
                <a:spcPts val="600"/>
              </a:spcAft>
              <a:buSzPct val="100000"/>
              <a:buChar char="•"/>
            </a:pPr>
            <a:r>
              <a:rPr sz="1400">
                <a:solidFill>
                  <a:srgbClr val="1F2937"/>
                </a:solidFill>
              </a:rPr>
              <a:t>Apply for registration</a:t>
            </a:r>
          </a:p>
          <a:p>
            <a:pPr marL="342900" indent="-342900">
              <a:spcAft>
                <a:spcPts val="600"/>
              </a:spcAft>
              <a:buSzPct val="100000"/>
              <a:buChar char="•"/>
            </a:pPr>
            <a:r>
              <a:rPr sz="1400">
                <a:solidFill>
                  <a:srgbClr val="1F2937"/>
                </a:solidFill>
              </a:rPr>
              <a:t>Track by reference</a:t>
            </a:r>
          </a:p>
          <a:p>
            <a:pPr marL="342900" indent="-342900">
              <a:spcAft>
                <a:spcPts val="600"/>
              </a:spcAft>
              <a:buSzPct val="100000"/>
              <a:buChar char="•"/>
            </a:pPr>
            <a:r>
              <a:rPr sz="1400">
                <a:solidFill>
                  <a:srgbClr val="1F2937"/>
                </a:solidFill>
              </a:rPr>
              <a:t>Correct vehicle details</a:t>
            </a:r>
          </a:p>
          <a:p>
            <a:pPr marL="342900" indent="-342900">
              <a:spcAft>
                <a:spcPts val="600"/>
              </a:spcAft>
              <a:buSzPct val="100000"/>
              <a:buChar char="•"/>
            </a:pPr>
            <a:r>
              <a:rPr sz="1400">
                <a:solidFill>
                  <a:srgbClr val="1F2937"/>
                </a:solidFill>
              </a:rPr>
              <a:t>Simulated payment</a:t>
            </a:r>
          </a:p>
          <a:p>
            <a:pPr marL="342900" indent="-342900">
              <a:spcAft>
                <a:spcPts val="600"/>
              </a:spcAft>
              <a:buSzPct val="100000"/>
              <a:buChar char="•"/>
            </a:pPr>
            <a:r>
              <a:rPr sz="1400">
                <a:solidFill>
                  <a:srgbClr val="1F2937"/>
                </a:solidFill>
              </a:rPr>
              <a:t>View vehicles and RC</a:t>
            </a:r>
          </a:p>
        </p:txBody>
      </p:sp>
      <p:sp>
        <p:nvSpPr>
          <p:cNvPr id="10" name="Shape 8">
            <a:extLst>
              <a:ext uri="{FF2B5EF4-FFF2-40B4-BE49-F238E27FC236}">
                <a16:creationId xmlns:a16="http://schemas.microsoft.com/office/drawing/2014/main" xmlns="" id="{1EC4131C-CEE3-4F66-B228-92E2A6E82508}"/>
              </a:ext>
            </a:extLst>
          </p:cNvPr>
          <p:cNvSpPr>
            <a:spLocks noGrp="1"/>
          </p:cNvSpPr>
          <p:nvPr/>
        </p:nvSpPr>
        <p:spPr>
          <a:xfrm>
            <a:off x="3291840" y="1097280"/>
            <a:ext cx="2560320" cy="3383280"/>
          </a:xfrm>
          <a:prstGeom prst="roundRect">
            <a:avLst>
              <a:gd name="adj" fmla="val 2857"/>
            </a:avLst>
          </a:prstGeom>
          <a:solidFill>
            <a:srgbClr val="ECFDF5"/>
          </a:solidFill>
          <a:ln w="12700">
            <a:solidFill>
              <a:srgbClr val="A7F3D0"/>
            </a:solidFill>
            <a:prstDash val="solid"/>
          </a:ln>
        </p:spPr>
        <p:txBody>
          <a:bodyPr/>
          <a:lstStyle/>
          <a:p>
            <a:endParaRPr/>
          </a:p>
        </p:txBody>
      </p:sp>
      <p:sp>
        <p:nvSpPr>
          <p:cNvPr id="11" name="Text 9">
            <a:extLst>
              <a:ext uri="{FF2B5EF4-FFF2-40B4-BE49-F238E27FC236}">
                <a16:creationId xmlns:a16="http://schemas.microsoft.com/office/drawing/2014/main" xmlns="" id="{61B18507-A954-41E3-99FF-A86C6593A373}"/>
              </a:ext>
            </a:extLst>
          </p:cNvPr>
          <p:cNvSpPr>
            <a:spLocks noGrp="1"/>
          </p:cNvSpPr>
          <p:nvPr/>
        </p:nvSpPr>
        <p:spPr>
          <a:xfrm>
            <a:off x="3474720" y="1207008"/>
            <a:ext cx="2194560" cy="365760"/>
          </a:xfrm>
          <a:prstGeom prst="rect">
            <a:avLst/>
          </a:prstGeom>
          <a:noFill/>
        </p:spPr>
        <p:txBody>
          <a:bodyPr wrap="square" lIns="0" tIns="0" rIns="0" bIns="0" anchor="ctr"/>
          <a:lstStyle/>
          <a:p>
            <a:pPr marL="0" indent="0">
              <a:buNone/>
            </a:pPr>
            <a:r>
              <a:rPr sz="1700" b="1">
                <a:solidFill>
                  <a:srgbClr val="047857"/>
                </a:solidFill>
              </a:rPr>
              <a:t>RTO officer</a:t>
            </a:r>
            <a:endParaRPr sz="1700"/>
          </a:p>
        </p:txBody>
      </p:sp>
      <p:sp>
        <p:nvSpPr>
          <p:cNvPr id="12" name="Text 10">
            <a:extLst>
              <a:ext uri="{FF2B5EF4-FFF2-40B4-BE49-F238E27FC236}">
                <a16:creationId xmlns:a16="http://schemas.microsoft.com/office/drawing/2014/main" xmlns="" id="{AEA8C875-832C-4DBB-ABBC-A318FF103A9A}"/>
              </a:ext>
            </a:extLst>
          </p:cNvPr>
          <p:cNvSpPr>
            <a:spLocks noGrp="1"/>
          </p:cNvSpPr>
          <p:nvPr/>
        </p:nvSpPr>
        <p:spPr>
          <a:xfrm>
            <a:off x="3474720" y="1627632"/>
            <a:ext cx="2194560" cy="2743200"/>
          </a:xfrm>
          <a:prstGeom prst="rect">
            <a:avLst/>
          </a:prstGeom>
          <a:noFill/>
        </p:spPr>
        <p:txBody>
          <a:bodyPr wrap="square" lIns="0" tIns="0" rIns="0" bIns="0" anchor="t"/>
          <a:lstStyle/>
          <a:p>
            <a:pPr marL="342900" indent="-342900">
              <a:spcAft>
                <a:spcPts val="600"/>
              </a:spcAft>
              <a:buSzPct val="100000"/>
              <a:buChar char="•"/>
            </a:pPr>
            <a:r>
              <a:rPr sz="1400">
                <a:solidFill>
                  <a:srgbClr val="1F2937"/>
                </a:solidFill>
              </a:rPr>
              <a:t>Review applications</a:t>
            </a:r>
            <a:endParaRPr sz="1400"/>
          </a:p>
          <a:p>
            <a:pPr marL="342900" indent="-342900">
              <a:spcAft>
                <a:spcPts val="600"/>
              </a:spcAft>
              <a:buSzPct val="100000"/>
              <a:buChar char="•"/>
            </a:pPr>
            <a:r>
              <a:rPr sz="1400">
                <a:solidFill>
                  <a:srgbClr val="1F2937"/>
                </a:solidFill>
              </a:rPr>
              <a:t>Verify vehicle details</a:t>
            </a:r>
          </a:p>
          <a:p>
            <a:pPr marL="342900" indent="-342900">
              <a:spcAft>
                <a:spcPts val="600"/>
              </a:spcAft>
              <a:buSzPct val="100000"/>
              <a:buChar char="•"/>
            </a:pPr>
            <a:r>
              <a:rPr sz="1400">
                <a:solidFill>
                  <a:srgbClr val="1F2937"/>
                </a:solidFill>
              </a:rPr>
              <a:t>Request corrections</a:t>
            </a:r>
          </a:p>
          <a:p>
            <a:pPr marL="342900" indent="-342900">
              <a:spcAft>
                <a:spcPts val="600"/>
              </a:spcAft>
              <a:buSzPct val="100000"/>
              <a:buChar char="•"/>
            </a:pPr>
            <a:r>
              <a:rPr sz="1400">
                <a:solidFill>
                  <a:srgbClr val="1F2937"/>
                </a:solidFill>
              </a:rPr>
              <a:t>Record inspection</a:t>
            </a:r>
          </a:p>
          <a:p>
            <a:pPr marL="342900" indent="-342900">
              <a:spcAft>
                <a:spcPts val="600"/>
              </a:spcAft>
              <a:buSzPct val="100000"/>
              <a:buChar char="•"/>
            </a:pPr>
            <a:r>
              <a:rPr sz="1400">
                <a:solidFill>
                  <a:srgbClr val="1F2937"/>
                </a:solidFill>
              </a:rPr>
              <a:t>Approve or reject</a:t>
            </a:r>
          </a:p>
          <a:p>
            <a:pPr marL="342900" indent="-342900">
              <a:spcAft>
                <a:spcPts val="600"/>
              </a:spcAft>
              <a:buSzPct val="100000"/>
              <a:buChar char="•"/>
            </a:pPr>
            <a:r>
              <a:rPr sz="1400">
                <a:solidFill>
                  <a:srgbClr val="1F2937"/>
                </a:solidFill>
              </a:rPr>
              <a:t>Issue the RC</a:t>
            </a:r>
          </a:p>
        </p:txBody>
      </p:sp>
      <p:sp>
        <p:nvSpPr>
          <p:cNvPr id="13" name="Shape 11">
            <a:extLst>
              <a:ext uri="{FF2B5EF4-FFF2-40B4-BE49-F238E27FC236}">
                <a16:creationId xmlns:a16="http://schemas.microsoft.com/office/drawing/2014/main" xmlns="" id="{7C6EDC0A-05B0-474C-88F7-728C9831D7E9}"/>
              </a:ext>
            </a:extLst>
          </p:cNvPr>
          <p:cNvSpPr>
            <a:spLocks noGrp="1"/>
          </p:cNvSpPr>
          <p:nvPr/>
        </p:nvSpPr>
        <p:spPr>
          <a:xfrm>
            <a:off x="6035040" y="1097280"/>
            <a:ext cx="2560320" cy="3383280"/>
          </a:xfrm>
          <a:prstGeom prst="roundRect">
            <a:avLst>
              <a:gd name="adj" fmla="val 2857"/>
            </a:avLst>
          </a:prstGeom>
          <a:solidFill>
            <a:srgbClr val="ECFDF5"/>
          </a:solidFill>
          <a:ln w="12700">
            <a:solidFill>
              <a:srgbClr val="A7F3D0"/>
            </a:solidFill>
            <a:prstDash val="solid"/>
          </a:ln>
        </p:spPr>
        <p:txBody>
          <a:bodyPr/>
          <a:lstStyle/>
          <a:p>
            <a:endParaRPr/>
          </a:p>
        </p:txBody>
      </p:sp>
      <p:sp>
        <p:nvSpPr>
          <p:cNvPr id="14" name="Text 12">
            <a:extLst>
              <a:ext uri="{FF2B5EF4-FFF2-40B4-BE49-F238E27FC236}">
                <a16:creationId xmlns:a16="http://schemas.microsoft.com/office/drawing/2014/main" xmlns="" id="{E4969CA0-2256-473D-94FB-CDAE33CEAB52}"/>
              </a:ext>
            </a:extLst>
          </p:cNvPr>
          <p:cNvSpPr>
            <a:spLocks noGrp="1"/>
          </p:cNvSpPr>
          <p:nvPr/>
        </p:nvSpPr>
        <p:spPr>
          <a:xfrm>
            <a:off x="6217920" y="1207008"/>
            <a:ext cx="2194560" cy="365760"/>
          </a:xfrm>
          <a:prstGeom prst="rect">
            <a:avLst/>
          </a:prstGeom>
          <a:noFill/>
        </p:spPr>
        <p:txBody>
          <a:bodyPr wrap="square" lIns="0" tIns="0" rIns="0" bIns="0" anchor="ctr"/>
          <a:lstStyle/>
          <a:p>
            <a:pPr marL="0" indent="0">
              <a:buNone/>
            </a:pPr>
            <a:r>
              <a:rPr sz="1700" b="1">
                <a:solidFill>
                  <a:srgbClr val="047857"/>
                </a:solidFill>
              </a:rPr>
              <a:t>Administrators</a:t>
            </a:r>
            <a:endParaRPr sz="1700"/>
          </a:p>
        </p:txBody>
      </p:sp>
      <p:sp>
        <p:nvSpPr>
          <p:cNvPr id="15" name="Text 13">
            <a:extLst>
              <a:ext uri="{FF2B5EF4-FFF2-40B4-BE49-F238E27FC236}">
                <a16:creationId xmlns:a16="http://schemas.microsoft.com/office/drawing/2014/main" xmlns="" id="{4B046890-8229-49ED-979B-EF68FF6FB67B}"/>
              </a:ext>
            </a:extLst>
          </p:cNvPr>
          <p:cNvSpPr>
            <a:spLocks noGrp="1"/>
          </p:cNvSpPr>
          <p:nvPr/>
        </p:nvSpPr>
        <p:spPr>
          <a:xfrm>
            <a:off x="6217920" y="1627632"/>
            <a:ext cx="2194560" cy="2743200"/>
          </a:xfrm>
          <a:prstGeom prst="rect">
            <a:avLst/>
          </a:prstGeom>
          <a:noFill/>
        </p:spPr>
        <p:txBody>
          <a:bodyPr wrap="square" lIns="0" tIns="0" rIns="0" bIns="0" anchor="t"/>
          <a:lstStyle/>
          <a:p>
            <a:pPr marL="342900" indent="-342900">
              <a:spcAft>
                <a:spcPts val="600"/>
              </a:spcAft>
              <a:buSzPct val="100000"/>
              <a:buChar char="•"/>
            </a:pPr>
            <a:r>
              <a:rPr sz="1400">
                <a:solidFill>
                  <a:srgbClr val="1F2937"/>
                </a:solidFill>
              </a:rPr>
              <a:t>Manage fee rules</a:t>
            </a:r>
            <a:endParaRPr sz="1400"/>
          </a:p>
          <a:p>
            <a:pPr marL="342900" indent="-342900">
              <a:spcAft>
                <a:spcPts val="600"/>
              </a:spcAft>
              <a:buSzPct val="100000"/>
              <a:buChar char="•"/>
            </a:pPr>
            <a:r>
              <a:rPr sz="1400">
                <a:solidFill>
                  <a:srgbClr val="1F2937"/>
                </a:solidFill>
              </a:rPr>
              <a:t>Manage employees</a:t>
            </a:r>
          </a:p>
          <a:p>
            <a:pPr marL="342900" indent="-342900">
              <a:spcAft>
                <a:spcPts val="600"/>
              </a:spcAft>
              <a:buSzPct val="100000"/>
              <a:buChar char="•"/>
            </a:pPr>
            <a:r>
              <a:rPr sz="1400">
                <a:solidFill>
                  <a:srgbClr val="1F2937"/>
                </a:solidFill>
              </a:rPr>
              <a:t>Manage account status</a:t>
            </a:r>
          </a:p>
          <a:p>
            <a:pPr marL="342900" indent="-342900">
              <a:spcAft>
                <a:spcPts val="600"/>
              </a:spcAft>
              <a:buSzPct val="100000"/>
              <a:buChar char="•"/>
            </a:pPr>
            <a:r>
              <a:rPr sz="1400">
                <a:solidFill>
                  <a:srgbClr val="1F2937"/>
                </a:solidFill>
              </a:rPr>
              <a:t>Review reports</a:t>
            </a:r>
          </a:p>
          <a:p>
            <a:pPr marL="342900" indent="-342900">
              <a:spcAft>
                <a:spcPts val="600"/>
              </a:spcAft>
              <a:buSzPct val="100000"/>
              <a:buChar char="•"/>
            </a:pPr>
            <a:r>
              <a:rPr sz="1400">
                <a:solidFill>
                  <a:srgbClr val="1F2937"/>
                </a:solidFill>
              </a:rPr>
              <a:t>View audit records</a:t>
            </a:r>
          </a:p>
        </p:txBody>
      </p:sp>
    </p:spTree>
    <p:extLst>
      <p:ext uri="{BB962C8B-B14F-4D97-AF65-F5344CB8AC3E}">
        <p14:creationId xmlns:p14="http://schemas.microsoft.com/office/powerpoint/2010/main" val="1795852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469ECA1B-0686-4719-9CED-4C7345498C1E}"/>
              </a:ext>
            </a:extLst>
          </p:cNvPr>
          <p:cNvSpPr>
            <a:spLocks noGrp="1"/>
          </p:cNvSpPr>
          <p:nvPr/>
        </p:nvSpPr>
        <p:spPr>
          <a:xfrm>
            <a:off x="0" y="0"/>
            <a:ext cx="164592" cy="5143500"/>
          </a:xfrm>
          <a:prstGeom prst="rect">
            <a:avLst/>
          </a:prstGeom>
          <a:solidFill>
            <a:srgbClr val="047857"/>
          </a:solidFill>
        </p:spPr>
        <p:txBody>
          <a:bodyPr/>
          <a:lstStyle/>
          <a:p>
            <a:endParaRPr/>
          </a:p>
        </p:txBody>
      </p:sp>
      <p:sp>
        <p:nvSpPr>
          <p:cNvPr id="3" name="Text 1">
            <a:extLst>
              <a:ext uri="{FF2B5EF4-FFF2-40B4-BE49-F238E27FC236}">
                <a16:creationId xmlns:a16="http://schemas.microsoft.com/office/drawing/2014/main" xmlns="" id="{B3136794-338D-4B46-96F0-05489FCBAF19}"/>
              </a:ext>
            </a:extLst>
          </p:cNvPr>
          <p:cNvSpPr>
            <a:spLocks noGrp="1"/>
          </p:cNvSpPr>
          <p:nvPr/>
        </p:nvSpPr>
        <p:spPr>
          <a:xfrm>
            <a:off x="548640" y="274320"/>
            <a:ext cx="8046720" cy="548640"/>
          </a:xfrm>
          <a:prstGeom prst="rect">
            <a:avLst/>
          </a:prstGeom>
          <a:noFill/>
        </p:spPr>
        <p:txBody>
          <a:bodyPr wrap="square" lIns="0" tIns="0" rIns="0" bIns="0" anchor="ctr"/>
          <a:lstStyle/>
          <a:p>
            <a:pPr marL="0" indent="0">
              <a:buNone/>
            </a:pPr>
            <a:r>
              <a:rPr sz="2800" b="1">
                <a:solidFill>
                  <a:srgbClr val="047857"/>
                </a:solidFill>
              </a:rPr>
              <a:t>Database &amp; API</a:t>
            </a:r>
            <a:endParaRPr sz="2800"/>
          </a:p>
        </p:txBody>
      </p:sp>
      <p:sp>
        <p:nvSpPr>
          <p:cNvPr id="4" name="Shape 2">
            <a:extLst>
              <a:ext uri="{FF2B5EF4-FFF2-40B4-BE49-F238E27FC236}">
                <a16:creationId xmlns:a16="http://schemas.microsoft.com/office/drawing/2014/main" xmlns="" id="{73F93302-54DC-405C-A708-E852DD395479}"/>
              </a:ext>
            </a:extLst>
          </p:cNvPr>
          <p:cNvSpPr>
            <a:spLocks noGrp="1"/>
          </p:cNvSpPr>
          <p:nvPr/>
        </p:nvSpPr>
        <p:spPr>
          <a:xfrm>
            <a:off x="548640" y="868680"/>
            <a:ext cx="1097280" cy="0"/>
          </a:xfrm>
          <a:prstGeom prst="line">
            <a:avLst/>
          </a:prstGeom>
          <a:noFill/>
          <a:ln w="38100">
            <a:solidFill>
              <a:srgbClr val="34D399"/>
            </a:solidFill>
            <a:prstDash val="solid"/>
          </a:ln>
        </p:spPr>
        <p:txBody>
          <a:bodyPr/>
          <a:lstStyle/>
          <a:p>
            <a:endParaRPr/>
          </a:p>
        </p:txBody>
      </p:sp>
      <p:sp>
        <p:nvSpPr>
          <p:cNvPr id="5" name="Text 3">
            <a:extLst>
              <a:ext uri="{FF2B5EF4-FFF2-40B4-BE49-F238E27FC236}">
                <a16:creationId xmlns:a16="http://schemas.microsoft.com/office/drawing/2014/main" xmlns="" id="{0ED4C65D-A0A5-43D3-B166-8DF3C3AF8822}"/>
              </a:ext>
            </a:extLst>
          </p:cNvPr>
          <p:cNvSpPr>
            <a:spLocks noGrp="1"/>
          </p:cNvSpPr>
          <p:nvPr/>
        </p:nvSpPr>
        <p:spPr>
          <a:xfrm>
            <a:off x="548640" y="4754880"/>
            <a:ext cx="4572000" cy="274320"/>
          </a:xfrm>
          <a:prstGeom prst="rect">
            <a:avLst/>
          </a:prstGeom>
          <a:noFill/>
        </p:spPr>
        <p:txBody>
          <a:bodyPr wrap="square" lIns="0" tIns="0" rIns="0" bIns="0" anchor="ctr"/>
          <a:lstStyle/>
          <a:p>
            <a:pPr marL="0" indent="0">
              <a:buNone/>
            </a:pPr>
            <a:r>
              <a:rPr sz="1100">
                <a:solidFill>
                  <a:srgbClr val="6B7280"/>
                </a:solidFill>
              </a:rPr>
              <a:t>Vehicle Registration System</a:t>
            </a:r>
            <a:endParaRPr sz="1100"/>
          </a:p>
        </p:txBody>
      </p:sp>
      <p:sp>
        <p:nvSpPr>
          <p:cNvPr id="6" name="Text 4">
            <a:extLst>
              <a:ext uri="{FF2B5EF4-FFF2-40B4-BE49-F238E27FC236}">
                <a16:creationId xmlns:a16="http://schemas.microsoft.com/office/drawing/2014/main" xmlns="" id="{89BCCBC2-31FE-4533-BA8E-AA776C07DF58}"/>
              </a:ext>
            </a:extLst>
          </p:cNvPr>
          <p:cNvSpPr>
            <a:spLocks noGrp="1"/>
          </p:cNvSpPr>
          <p:nvPr/>
        </p:nvSpPr>
        <p:spPr>
          <a:xfrm>
            <a:off x="8229600" y="4754880"/>
            <a:ext cx="457200" cy="274320"/>
          </a:xfrm>
          <a:prstGeom prst="rect">
            <a:avLst/>
          </a:prstGeom>
          <a:noFill/>
        </p:spPr>
        <p:txBody>
          <a:bodyPr wrap="square" lIns="0" tIns="0" rIns="0" bIns="0" anchor="ctr"/>
          <a:lstStyle/>
          <a:p>
            <a:pPr marL="0" indent="0" algn="r">
              <a:buNone/>
            </a:pPr>
            <a:r>
              <a:rPr sz="1100">
                <a:solidFill>
                  <a:srgbClr val="6B7280"/>
                </a:solidFill>
              </a:rPr>
              <a:t>7</a:t>
            </a:r>
            <a:endParaRPr sz="1100"/>
          </a:p>
        </p:txBody>
      </p:sp>
      <p:sp>
        <p:nvSpPr>
          <p:cNvPr id="7" name="Text 5">
            <a:extLst>
              <a:ext uri="{FF2B5EF4-FFF2-40B4-BE49-F238E27FC236}">
                <a16:creationId xmlns:a16="http://schemas.microsoft.com/office/drawing/2014/main" xmlns="" id="{EA749E4F-105B-4FF3-BF46-77E2CB2F51E7}"/>
              </a:ext>
            </a:extLst>
          </p:cNvPr>
          <p:cNvSpPr>
            <a:spLocks noGrp="1"/>
          </p:cNvSpPr>
          <p:nvPr/>
        </p:nvSpPr>
        <p:spPr>
          <a:xfrm>
            <a:off x="548640" y="1051560"/>
            <a:ext cx="3657600" cy="320040"/>
          </a:xfrm>
          <a:prstGeom prst="rect">
            <a:avLst/>
          </a:prstGeom>
          <a:noFill/>
        </p:spPr>
        <p:txBody>
          <a:bodyPr wrap="square" lIns="0" tIns="0" rIns="0" bIns="0" anchor="ctr"/>
          <a:lstStyle/>
          <a:p>
            <a:pPr marL="0" indent="0">
              <a:buNone/>
            </a:pPr>
            <a:r>
              <a:rPr sz="1800" b="1">
                <a:solidFill>
                  <a:srgbClr val="047857"/>
                </a:solidFill>
              </a:rPr>
              <a:t>Main tables</a:t>
            </a:r>
            <a:endParaRPr sz="1800"/>
          </a:p>
        </p:txBody>
      </p:sp>
      <p:sp>
        <p:nvSpPr>
          <p:cNvPr id="30" name="Text 28">
            <a:extLst>
              <a:ext uri="{FF2B5EF4-FFF2-40B4-BE49-F238E27FC236}">
                <a16:creationId xmlns:a16="http://schemas.microsoft.com/office/drawing/2014/main" xmlns="" id="{EBCEDFFA-5B8F-481F-B18B-71273C12FD72}"/>
              </a:ext>
            </a:extLst>
          </p:cNvPr>
          <p:cNvSpPr>
            <a:spLocks noGrp="1"/>
          </p:cNvSpPr>
          <p:nvPr/>
        </p:nvSpPr>
        <p:spPr>
          <a:xfrm>
            <a:off x="4663440" y="1051560"/>
            <a:ext cx="3657600" cy="320040"/>
          </a:xfrm>
          <a:prstGeom prst="rect">
            <a:avLst/>
          </a:prstGeom>
          <a:noFill/>
        </p:spPr>
        <p:txBody>
          <a:bodyPr wrap="square" lIns="0" tIns="0" rIns="0" bIns="0" anchor="ctr"/>
          <a:lstStyle/>
          <a:p>
            <a:pPr marL="0" indent="0">
              <a:buNone/>
            </a:pPr>
            <a:r>
              <a:rPr sz="1800" b="1">
                <a:solidFill>
                  <a:srgbClr val="047857"/>
                </a:solidFill>
              </a:rPr>
              <a:t>Sample APIs</a:t>
            </a:r>
            <a:endParaRPr sz="1800"/>
          </a:p>
        </p:txBody>
      </p:sp>
      <p:sp>
        <p:nvSpPr>
          <p:cNvPr id="31" name="Shape 29">
            <a:extLst>
              <a:ext uri="{FF2B5EF4-FFF2-40B4-BE49-F238E27FC236}">
                <a16:creationId xmlns:a16="http://schemas.microsoft.com/office/drawing/2014/main" xmlns="" id="{BA706C69-86B3-4E75-B430-833E98D61C0C}"/>
              </a:ext>
            </a:extLst>
          </p:cNvPr>
          <p:cNvSpPr>
            <a:spLocks noGrp="1"/>
          </p:cNvSpPr>
          <p:nvPr/>
        </p:nvSpPr>
        <p:spPr>
          <a:xfrm>
            <a:off x="4663440" y="1508760"/>
            <a:ext cx="3931920" cy="2286000"/>
          </a:xfrm>
          <a:prstGeom prst="roundRect">
            <a:avLst>
              <a:gd name="adj" fmla="val 3200"/>
            </a:avLst>
          </a:prstGeom>
          <a:solidFill>
            <a:srgbClr val="1F2937"/>
          </a:solidFill>
        </p:spPr>
        <p:txBody>
          <a:bodyPr/>
          <a:lstStyle/>
          <a:p>
            <a:endParaRPr/>
          </a:p>
        </p:txBody>
      </p:sp>
      <p:sp>
        <p:nvSpPr>
          <p:cNvPr id="32" name="Text 30">
            <a:extLst>
              <a:ext uri="{FF2B5EF4-FFF2-40B4-BE49-F238E27FC236}">
                <a16:creationId xmlns:a16="http://schemas.microsoft.com/office/drawing/2014/main" xmlns="" id="{160BEBC9-A00B-4F86-B622-21A9E8CFE302}"/>
              </a:ext>
            </a:extLst>
          </p:cNvPr>
          <p:cNvSpPr>
            <a:spLocks noGrp="1"/>
          </p:cNvSpPr>
          <p:nvPr/>
        </p:nvSpPr>
        <p:spPr>
          <a:xfrm>
            <a:off x="4800600" y="1600200"/>
            <a:ext cx="3657600" cy="2103120"/>
          </a:xfrm>
          <a:prstGeom prst="rect">
            <a:avLst/>
          </a:prstGeom>
          <a:noFill/>
        </p:spPr>
        <p:txBody>
          <a:bodyPr wrap="square" lIns="0" tIns="0" rIns="0" bIns="0" anchor="t"/>
          <a:lstStyle/>
          <a:p>
            <a:pPr marL="0" indent="0">
              <a:spcAft>
                <a:spcPts val="300"/>
              </a:spcAft>
              <a:buNone/>
            </a:pPr>
            <a:r>
              <a:rPr sz="1100">
                <a:solidFill>
                  <a:srgbClr val="A7F3D0"/>
                </a:solidFill>
                <a:latin typeface="Consolas"/>
                <a:ea typeface="Consolas"/>
                <a:cs typeface="Consolas"/>
              </a:rPr>
              <a:t>POST /api/auth/login</a:t>
            </a:r>
            <a:endParaRPr sz="1100"/>
          </a:p>
          <a:p>
            <a:pPr marL="0" indent="0">
              <a:spcAft>
                <a:spcPts val="300"/>
              </a:spcAft>
              <a:buNone/>
            </a:pPr>
            <a:r>
              <a:rPr sz="1100">
                <a:solidFill>
                  <a:srgbClr val="A7F3D0"/>
                </a:solidFill>
                <a:latin typeface="Consolas"/>
                <a:ea typeface="Consolas"/>
                <a:cs typeface="Consolas"/>
              </a:rPr>
              <a:t>POST /api/auth/signup</a:t>
            </a:r>
          </a:p>
          <a:p>
            <a:pPr marL="0" indent="0">
              <a:spcAft>
                <a:spcPts val="300"/>
              </a:spcAft>
              <a:buNone/>
            </a:pPr>
            <a:r>
              <a:rPr sz="1100">
                <a:solidFill>
                  <a:srgbClr val="A7F3D0"/>
                </a:solidFill>
                <a:latin typeface="Consolas"/>
                <a:ea typeface="Consolas"/>
                <a:cs typeface="Consolas"/>
              </a:rPr>
              <a:t>GET  /api/applications</a:t>
            </a:r>
          </a:p>
          <a:p>
            <a:pPr marL="0" indent="0">
              <a:spcAft>
                <a:spcPts val="300"/>
              </a:spcAft>
              <a:buNone/>
            </a:pPr>
            <a:r>
              <a:rPr sz="1100">
                <a:solidFill>
                  <a:srgbClr val="A7F3D0"/>
                </a:solidFill>
                <a:latin typeface="Consolas"/>
                <a:ea typeface="Consolas"/>
                <a:cs typeface="Consolas"/>
              </a:rPr>
              <a:t>POST /api/applications</a:t>
            </a:r>
          </a:p>
          <a:p>
            <a:pPr marL="0" indent="0">
              <a:spcAft>
                <a:spcPts val="300"/>
              </a:spcAft>
              <a:buNone/>
            </a:pPr>
            <a:r>
              <a:rPr sz="1100">
                <a:solidFill>
                  <a:srgbClr val="A7F3D0"/>
                </a:solidFill>
                <a:latin typeface="Consolas"/>
                <a:ea typeface="Consolas"/>
                <a:cs typeface="Consolas"/>
              </a:rPr>
              <a:t>GET  /api/applications/{ref}</a:t>
            </a:r>
          </a:p>
          <a:p>
            <a:pPr marL="0" indent="0">
              <a:spcAft>
                <a:spcPts val="300"/>
              </a:spcAft>
              <a:buNone/>
            </a:pPr>
            <a:r>
              <a:rPr sz="1100">
                <a:solidFill>
                  <a:srgbClr val="A7F3D0"/>
                </a:solidFill>
                <a:latin typeface="Consolas"/>
                <a:ea typeface="Consolas"/>
                <a:cs typeface="Consolas"/>
              </a:rPr>
              <a:t>POST /api/applications/{ref}/review</a:t>
            </a:r>
          </a:p>
          <a:p>
            <a:pPr marL="0" indent="0">
              <a:spcAft>
                <a:spcPts val="300"/>
              </a:spcAft>
              <a:buNone/>
            </a:pPr>
            <a:r>
              <a:rPr sz="1100">
                <a:solidFill>
                  <a:srgbClr val="A7F3D0"/>
                </a:solidFill>
                <a:latin typeface="Consolas"/>
                <a:ea typeface="Consolas"/>
                <a:cs typeface="Consolas"/>
              </a:rPr>
              <a:t>GET  /api/applications/{ref}/certificate</a:t>
            </a:r>
          </a:p>
        </p:txBody>
      </p:sp>
      <p:sp>
        <p:nvSpPr>
          <p:cNvPr id="33" name="Text 31">
            <a:extLst>
              <a:ext uri="{FF2B5EF4-FFF2-40B4-BE49-F238E27FC236}">
                <a16:creationId xmlns:a16="http://schemas.microsoft.com/office/drawing/2014/main" xmlns="" id="{6C4490AA-40FF-455B-9155-B4963558FABE}"/>
              </a:ext>
            </a:extLst>
          </p:cNvPr>
          <p:cNvSpPr>
            <a:spLocks noGrp="1"/>
          </p:cNvSpPr>
          <p:nvPr/>
        </p:nvSpPr>
        <p:spPr>
          <a:xfrm>
            <a:off x="548640" y="4160520"/>
            <a:ext cx="8046720" cy="365760"/>
          </a:xfrm>
          <a:prstGeom prst="rect">
            <a:avLst/>
          </a:prstGeom>
          <a:noFill/>
        </p:spPr>
        <p:txBody>
          <a:bodyPr wrap="square" lIns="0" tIns="0" rIns="0" bIns="0" anchor="ctr"/>
          <a:lstStyle/>
          <a:p>
            <a:pPr marL="0" indent="0">
              <a:buNone/>
            </a:pPr>
            <a:r>
              <a:rPr sz="1400" b="1">
                <a:solidFill>
                  <a:srgbClr val="1F2937"/>
                </a:solidFill>
              </a:rPr>
              <a:t>Owner has no role field. RTOEmployee stores the role.</a:t>
            </a:r>
            <a:endParaRPr sz="1400"/>
          </a:p>
        </p:txBody>
      </p:sp>
      <p:sp>
        <p:nvSpPr>
          <p:cNvPr id="34" name="Rectangle 33">
            <a:extLst>
              <a:ext uri="{FF2B5EF4-FFF2-40B4-BE49-F238E27FC236}">
                <a16:creationId xmlns:a16="http://schemas.microsoft.com/office/drawing/2014/main" xmlns="" id="{CDB4C3CB-A6C0-4D80-9DA9-5F652188ADC7}"/>
              </a:ext>
            </a:extLst>
          </p:cNvPr>
          <p:cNvSpPr>
            <a:spLocks noGrp="1"/>
          </p:cNvSpPr>
          <p:nvPr/>
        </p:nvSpPr>
        <p:spPr>
          <a:xfrm>
            <a:off x="548640" y="1508760"/>
            <a:ext cx="3657600" cy="2457450"/>
          </a:xfrm>
          <a:prstGeom prst="rect">
            <a:avLst/>
          </a:prstGeom>
          <a:noFill/>
          <a:ln w="0">
            <a:noFill/>
          </a:ln>
        </p:spPr>
        <p:txBody>
          <a:bodyPr>
            <a:noAutofit/>
          </a:bodyPr>
          <a:lstStyle>
            <a:defPPr>
              <a:defRPr sz="1500">
                <a:solidFill>
                  <a:srgbClr val="1F2937"/>
                </a:solidFill>
                <a:latin typeface="Calibri"/>
                <a:ea typeface="Calibri"/>
                <a:cs typeface="Calibri"/>
              </a:defRPr>
            </a:defPPr>
          </a:lstStyle>
          <a:p>
            <a:pPr>
              <a:defRPr sz="1500">
                <a:solidFill>
                  <a:srgbClr val="1F2937"/>
                </a:solidFill>
                <a:latin typeface="Calibri"/>
                <a:ea typeface="Calibri"/>
                <a:cs typeface="Calibri"/>
              </a:defRPr>
            </a:pPr>
            <a:r>
              <a:rPr sz="1500" dirty="0" err="1">
                <a:solidFill>
                  <a:srgbClr val="1F2937"/>
                </a:solidFill>
                <a:latin typeface="Calibri"/>
                <a:ea typeface="Calibri"/>
                <a:cs typeface="Calibri"/>
              </a:rPr>
              <a:t>owner_details</a:t>
            </a:r>
            <a:endParaRPr sz="1500" dirty="0">
              <a:solidFill>
                <a:srgbClr val="1F2937"/>
              </a:solidFill>
              <a:latin typeface="Calibri"/>
              <a:ea typeface="Calibri"/>
              <a:cs typeface="Calibri"/>
            </a:endParaRPr>
          </a:p>
          <a:p>
            <a:pPr>
              <a:defRPr sz="1500">
                <a:solidFill>
                  <a:srgbClr val="1F2937"/>
                </a:solidFill>
                <a:latin typeface="Calibri"/>
                <a:ea typeface="Calibri"/>
                <a:cs typeface="Calibri"/>
              </a:defRPr>
            </a:pPr>
            <a:r>
              <a:rPr sz="1500" dirty="0" err="1" smtClean="0">
                <a:solidFill>
                  <a:srgbClr val="1F2937"/>
                </a:solidFill>
                <a:latin typeface="Calibri"/>
                <a:ea typeface="Calibri"/>
                <a:cs typeface="Calibri"/>
              </a:rPr>
              <a:t>rt</a:t>
            </a:r>
            <a:r>
              <a:rPr lang="en-US" sz="1500" dirty="0" err="1" smtClean="0">
                <a:solidFill>
                  <a:srgbClr val="1F2937"/>
                </a:solidFill>
                <a:latin typeface="Calibri"/>
                <a:ea typeface="Calibri"/>
                <a:cs typeface="Calibri"/>
              </a:rPr>
              <a:t>o</a:t>
            </a:r>
            <a:r>
              <a:rPr sz="1500" dirty="0" err="1" smtClean="0">
                <a:solidFill>
                  <a:srgbClr val="1F2937"/>
                </a:solidFill>
                <a:latin typeface="Calibri"/>
                <a:ea typeface="Calibri"/>
                <a:cs typeface="Calibri"/>
              </a:rPr>
              <a:t>_employees</a:t>
            </a:r>
            <a:endParaRPr sz="1500" dirty="0">
              <a:solidFill>
                <a:srgbClr val="1F2937"/>
              </a:solidFill>
              <a:latin typeface="Calibri"/>
              <a:ea typeface="Calibri"/>
              <a:cs typeface="Calibri"/>
            </a:endParaRPr>
          </a:p>
          <a:p>
            <a:pPr>
              <a:defRPr sz="1500">
                <a:solidFill>
                  <a:srgbClr val="1F2937"/>
                </a:solidFill>
                <a:latin typeface="Calibri"/>
                <a:ea typeface="Calibri"/>
                <a:cs typeface="Calibri"/>
              </a:defRPr>
            </a:pPr>
            <a:r>
              <a:rPr sz="1500" dirty="0" err="1">
                <a:solidFill>
                  <a:srgbClr val="1F2937"/>
                </a:solidFill>
                <a:latin typeface="Calibri"/>
                <a:ea typeface="Calibri"/>
                <a:cs typeface="Calibri"/>
              </a:rPr>
              <a:t>vehicle_details</a:t>
            </a:r>
            <a:endParaRPr sz="1500" dirty="0">
              <a:solidFill>
                <a:srgbClr val="1F2937"/>
              </a:solidFill>
              <a:latin typeface="Calibri"/>
              <a:ea typeface="Calibri"/>
              <a:cs typeface="Calibri"/>
            </a:endParaRPr>
          </a:p>
          <a:p>
            <a:pPr>
              <a:defRPr sz="1500">
                <a:solidFill>
                  <a:srgbClr val="1F2937"/>
                </a:solidFill>
                <a:latin typeface="Calibri"/>
                <a:ea typeface="Calibri"/>
                <a:cs typeface="Calibri"/>
              </a:defRPr>
            </a:pPr>
            <a:r>
              <a:rPr sz="1500" dirty="0" err="1">
                <a:solidFill>
                  <a:srgbClr val="1F2937"/>
                </a:solidFill>
                <a:latin typeface="Calibri"/>
                <a:ea typeface="Calibri"/>
                <a:cs typeface="Calibri"/>
              </a:rPr>
              <a:t>vehicle_registration_applications</a:t>
            </a:r>
            <a:endParaRPr sz="1500" dirty="0">
              <a:solidFill>
                <a:srgbClr val="1F2937"/>
              </a:solidFill>
              <a:latin typeface="Calibri"/>
              <a:ea typeface="Calibri"/>
              <a:cs typeface="Calibri"/>
            </a:endParaRPr>
          </a:p>
          <a:p>
            <a:pPr>
              <a:defRPr sz="1500">
                <a:solidFill>
                  <a:srgbClr val="1F2937"/>
                </a:solidFill>
                <a:latin typeface="Calibri"/>
                <a:ea typeface="Calibri"/>
                <a:cs typeface="Calibri"/>
              </a:defRPr>
            </a:pPr>
            <a:r>
              <a:rPr sz="1500" dirty="0" err="1">
                <a:solidFill>
                  <a:srgbClr val="1F2937"/>
                </a:solidFill>
                <a:latin typeface="Calibri"/>
                <a:ea typeface="Calibri"/>
                <a:cs typeface="Calibri"/>
              </a:rPr>
              <a:t>owner_payment_detail</a:t>
            </a:r>
            <a:endParaRPr sz="1500" dirty="0">
              <a:solidFill>
                <a:srgbClr val="1F2937"/>
              </a:solidFill>
              <a:latin typeface="Calibri"/>
              <a:ea typeface="Calibri"/>
              <a:cs typeface="Calibri"/>
            </a:endParaRPr>
          </a:p>
          <a:p>
            <a:pPr>
              <a:defRPr sz="1500">
                <a:solidFill>
                  <a:srgbClr val="1F2937"/>
                </a:solidFill>
                <a:latin typeface="Calibri"/>
                <a:ea typeface="Calibri"/>
                <a:cs typeface="Calibri"/>
              </a:defRPr>
            </a:pPr>
            <a:r>
              <a:rPr sz="1500" dirty="0" err="1">
                <a:solidFill>
                  <a:srgbClr val="1F2937"/>
                </a:solidFill>
                <a:latin typeface="Calibri"/>
                <a:ea typeface="Calibri"/>
                <a:cs typeface="Calibri"/>
              </a:rPr>
              <a:t>registration_certificate</a:t>
            </a:r>
            <a:endParaRPr sz="1500" dirty="0">
              <a:solidFill>
                <a:srgbClr val="1F2937"/>
              </a:solidFill>
              <a:latin typeface="Calibri"/>
              <a:ea typeface="Calibri"/>
              <a:cs typeface="Calibri"/>
            </a:endParaRPr>
          </a:p>
          <a:p>
            <a:pPr>
              <a:defRPr sz="1500">
                <a:solidFill>
                  <a:srgbClr val="1F2937"/>
                </a:solidFill>
                <a:latin typeface="Calibri"/>
                <a:ea typeface="Calibri"/>
                <a:cs typeface="Calibri"/>
              </a:defRPr>
            </a:pPr>
            <a:r>
              <a:rPr sz="1500" dirty="0" err="1">
                <a:solidFill>
                  <a:srgbClr val="1F2937"/>
                </a:solidFill>
                <a:latin typeface="Calibri"/>
                <a:ea typeface="Calibri"/>
                <a:cs typeface="Calibri"/>
              </a:rPr>
              <a:t>registration_fee_rules</a:t>
            </a:r>
            <a:endParaRPr sz="1500" dirty="0">
              <a:solidFill>
                <a:srgbClr val="1F2937"/>
              </a:solidFill>
              <a:latin typeface="Calibri"/>
              <a:ea typeface="Calibri"/>
              <a:cs typeface="Calibri"/>
            </a:endParaRPr>
          </a:p>
          <a:p>
            <a:pPr>
              <a:defRPr sz="1500">
                <a:solidFill>
                  <a:srgbClr val="1F2937"/>
                </a:solidFill>
                <a:latin typeface="Calibri"/>
                <a:ea typeface="Calibri"/>
                <a:cs typeface="Calibri"/>
              </a:defRPr>
            </a:pPr>
            <a:r>
              <a:rPr sz="1500" dirty="0" err="1">
                <a:solidFill>
                  <a:srgbClr val="1F2937"/>
                </a:solidFill>
                <a:latin typeface="Calibri"/>
                <a:ea typeface="Calibri"/>
                <a:cs typeface="Calibri"/>
              </a:rPr>
              <a:t>audit_logs</a:t>
            </a:r>
            <a:endParaRPr sz="1500" dirty="0">
              <a:solidFill>
                <a:srgbClr val="1F2937"/>
              </a:solidFill>
              <a:latin typeface="Calibri"/>
              <a:ea typeface="Calibri"/>
              <a:cs typeface="Calibri"/>
            </a:endParaRPr>
          </a:p>
        </p:txBody>
      </p:sp>
    </p:spTree>
    <p:extLst>
      <p:ext uri="{BB962C8B-B14F-4D97-AF65-F5344CB8AC3E}">
        <p14:creationId xmlns:p14="http://schemas.microsoft.com/office/powerpoint/2010/main" val="85334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5A17165A-0C41-4EEB-A6E0-BE29127E1698}"/>
              </a:ext>
            </a:extLst>
          </p:cNvPr>
          <p:cNvSpPr>
            <a:spLocks noGrp="1"/>
          </p:cNvSpPr>
          <p:nvPr/>
        </p:nvSpPr>
        <p:spPr>
          <a:xfrm>
            <a:off x="0" y="0"/>
            <a:ext cx="164592" cy="5143500"/>
          </a:xfrm>
          <a:prstGeom prst="rect">
            <a:avLst/>
          </a:prstGeom>
          <a:solidFill>
            <a:srgbClr val="047857"/>
          </a:solidFill>
        </p:spPr>
        <p:txBody>
          <a:bodyPr/>
          <a:lstStyle/>
          <a:p>
            <a:endParaRPr/>
          </a:p>
        </p:txBody>
      </p:sp>
      <p:sp>
        <p:nvSpPr>
          <p:cNvPr id="3" name="Text 1">
            <a:extLst>
              <a:ext uri="{FF2B5EF4-FFF2-40B4-BE49-F238E27FC236}">
                <a16:creationId xmlns:a16="http://schemas.microsoft.com/office/drawing/2014/main" xmlns="" id="{802B5102-E9B3-4F08-B830-10B47351710E}"/>
              </a:ext>
            </a:extLst>
          </p:cNvPr>
          <p:cNvSpPr>
            <a:spLocks noGrp="1"/>
          </p:cNvSpPr>
          <p:nvPr/>
        </p:nvSpPr>
        <p:spPr>
          <a:xfrm>
            <a:off x="548640" y="274320"/>
            <a:ext cx="8046720" cy="548640"/>
          </a:xfrm>
          <a:prstGeom prst="rect">
            <a:avLst/>
          </a:prstGeom>
          <a:noFill/>
        </p:spPr>
        <p:txBody>
          <a:bodyPr wrap="square" lIns="0" tIns="0" rIns="0" bIns="0" anchor="ctr"/>
          <a:lstStyle/>
          <a:p>
            <a:pPr marL="0" indent="0">
              <a:buNone/>
            </a:pPr>
            <a:r>
              <a:rPr sz="2800" b="1">
                <a:solidFill>
                  <a:srgbClr val="047857"/>
                </a:solidFill>
              </a:rPr>
              <a:t>Application Workflow</a:t>
            </a:r>
            <a:endParaRPr sz="2800"/>
          </a:p>
        </p:txBody>
      </p:sp>
      <p:sp>
        <p:nvSpPr>
          <p:cNvPr id="4" name="Shape 2">
            <a:extLst>
              <a:ext uri="{FF2B5EF4-FFF2-40B4-BE49-F238E27FC236}">
                <a16:creationId xmlns:a16="http://schemas.microsoft.com/office/drawing/2014/main" xmlns="" id="{37BE8593-E751-4687-B518-100C90C4E1D9}"/>
              </a:ext>
            </a:extLst>
          </p:cNvPr>
          <p:cNvSpPr>
            <a:spLocks noGrp="1"/>
          </p:cNvSpPr>
          <p:nvPr/>
        </p:nvSpPr>
        <p:spPr>
          <a:xfrm>
            <a:off x="548640" y="868680"/>
            <a:ext cx="1097280" cy="0"/>
          </a:xfrm>
          <a:prstGeom prst="line">
            <a:avLst/>
          </a:prstGeom>
          <a:noFill/>
          <a:ln w="38100">
            <a:solidFill>
              <a:srgbClr val="34D399"/>
            </a:solidFill>
            <a:prstDash val="solid"/>
          </a:ln>
        </p:spPr>
        <p:txBody>
          <a:bodyPr/>
          <a:lstStyle/>
          <a:p>
            <a:endParaRPr/>
          </a:p>
        </p:txBody>
      </p:sp>
      <p:sp>
        <p:nvSpPr>
          <p:cNvPr id="5" name="Text 3">
            <a:extLst>
              <a:ext uri="{FF2B5EF4-FFF2-40B4-BE49-F238E27FC236}">
                <a16:creationId xmlns:a16="http://schemas.microsoft.com/office/drawing/2014/main" xmlns="" id="{5DAF3329-4120-4F46-9495-1F5BCC81710A}"/>
              </a:ext>
            </a:extLst>
          </p:cNvPr>
          <p:cNvSpPr>
            <a:spLocks noGrp="1"/>
          </p:cNvSpPr>
          <p:nvPr/>
        </p:nvSpPr>
        <p:spPr>
          <a:xfrm>
            <a:off x="548640" y="4754880"/>
            <a:ext cx="4572000" cy="274320"/>
          </a:xfrm>
          <a:prstGeom prst="rect">
            <a:avLst/>
          </a:prstGeom>
          <a:noFill/>
        </p:spPr>
        <p:txBody>
          <a:bodyPr wrap="square" lIns="0" tIns="0" rIns="0" bIns="0" anchor="ctr"/>
          <a:lstStyle/>
          <a:p>
            <a:pPr marL="0" indent="0">
              <a:buNone/>
            </a:pPr>
            <a:r>
              <a:rPr sz="1100">
                <a:solidFill>
                  <a:srgbClr val="6B7280"/>
                </a:solidFill>
              </a:rPr>
              <a:t>Vehicle Registration System</a:t>
            </a:r>
            <a:endParaRPr sz="1100"/>
          </a:p>
        </p:txBody>
      </p:sp>
      <p:sp>
        <p:nvSpPr>
          <p:cNvPr id="6" name="Text 4">
            <a:extLst>
              <a:ext uri="{FF2B5EF4-FFF2-40B4-BE49-F238E27FC236}">
                <a16:creationId xmlns:a16="http://schemas.microsoft.com/office/drawing/2014/main" xmlns="" id="{B9503BA1-E614-4FFF-9EC3-B5EDD69E7A85}"/>
              </a:ext>
            </a:extLst>
          </p:cNvPr>
          <p:cNvSpPr>
            <a:spLocks noGrp="1"/>
          </p:cNvSpPr>
          <p:nvPr/>
        </p:nvSpPr>
        <p:spPr>
          <a:xfrm>
            <a:off x="8229600" y="4754880"/>
            <a:ext cx="457200" cy="274320"/>
          </a:xfrm>
          <a:prstGeom prst="rect">
            <a:avLst/>
          </a:prstGeom>
          <a:noFill/>
        </p:spPr>
        <p:txBody>
          <a:bodyPr wrap="square" lIns="0" tIns="0" rIns="0" bIns="0" anchor="ctr"/>
          <a:lstStyle/>
          <a:p>
            <a:pPr marL="0" indent="0" algn="r">
              <a:buNone/>
            </a:pPr>
            <a:r>
              <a:rPr sz="1100">
                <a:solidFill>
                  <a:srgbClr val="6B7280"/>
                </a:solidFill>
              </a:rPr>
              <a:t>8</a:t>
            </a:r>
            <a:endParaRPr sz="1100"/>
          </a:p>
        </p:txBody>
      </p:sp>
      <p:sp>
        <p:nvSpPr>
          <p:cNvPr id="7" name="Shape 5">
            <a:extLst>
              <a:ext uri="{FF2B5EF4-FFF2-40B4-BE49-F238E27FC236}">
                <a16:creationId xmlns:a16="http://schemas.microsoft.com/office/drawing/2014/main" xmlns="" id="{8D8CB1E7-26A7-417E-A851-E47B041387D0}"/>
              </a:ext>
            </a:extLst>
          </p:cNvPr>
          <p:cNvSpPr>
            <a:spLocks noGrp="1"/>
          </p:cNvSpPr>
          <p:nvPr/>
        </p:nvSpPr>
        <p:spPr>
          <a:xfrm>
            <a:off x="548640" y="1097280"/>
            <a:ext cx="384048" cy="384048"/>
          </a:xfrm>
          <a:prstGeom prst="ellipse">
            <a:avLst/>
          </a:prstGeom>
          <a:solidFill>
            <a:srgbClr val="047857"/>
          </a:solidFill>
        </p:spPr>
        <p:txBody>
          <a:bodyPr/>
          <a:lstStyle/>
          <a:p>
            <a:endParaRPr/>
          </a:p>
        </p:txBody>
      </p:sp>
      <p:sp>
        <p:nvSpPr>
          <p:cNvPr id="8" name="Text 6">
            <a:extLst>
              <a:ext uri="{FF2B5EF4-FFF2-40B4-BE49-F238E27FC236}">
                <a16:creationId xmlns:a16="http://schemas.microsoft.com/office/drawing/2014/main" xmlns="" id="{57265F14-043C-416F-AB4A-0D7639575E1F}"/>
              </a:ext>
            </a:extLst>
          </p:cNvPr>
          <p:cNvSpPr>
            <a:spLocks noGrp="1"/>
          </p:cNvSpPr>
          <p:nvPr/>
        </p:nvSpPr>
        <p:spPr>
          <a:xfrm>
            <a:off x="548640" y="1097280"/>
            <a:ext cx="384048" cy="384048"/>
          </a:xfrm>
          <a:prstGeom prst="rect">
            <a:avLst/>
          </a:prstGeom>
          <a:noFill/>
        </p:spPr>
        <p:txBody>
          <a:bodyPr wrap="square" lIns="0" tIns="0" rIns="0" bIns="0" anchor="ctr"/>
          <a:lstStyle/>
          <a:p>
            <a:pPr marL="0" indent="0" algn="ctr">
              <a:buNone/>
            </a:pPr>
            <a:r>
              <a:rPr sz="1400" b="1">
                <a:solidFill>
                  <a:srgbClr val="FFFFFF"/>
                </a:solidFill>
              </a:rPr>
              <a:t>1</a:t>
            </a:r>
            <a:endParaRPr sz="1400"/>
          </a:p>
        </p:txBody>
      </p:sp>
      <p:sp>
        <p:nvSpPr>
          <p:cNvPr id="9" name="Text 7">
            <a:extLst>
              <a:ext uri="{FF2B5EF4-FFF2-40B4-BE49-F238E27FC236}">
                <a16:creationId xmlns:a16="http://schemas.microsoft.com/office/drawing/2014/main" xmlns="" id="{9924AE96-5053-4C91-8245-D60690C3C39F}"/>
              </a:ext>
            </a:extLst>
          </p:cNvPr>
          <p:cNvSpPr>
            <a:spLocks noGrp="1"/>
          </p:cNvSpPr>
          <p:nvPr/>
        </p:nvSpPr>
        <p:spPr>
          <a:xfrm>
            <a:off x="1051560" y="1051560"/>
            <a:ext cx="2743200" cy="475488"/>
          </a:xfrm>
          <a:prstGeom prst="rect">
            <a:avLst/>
          </a:prstGeom>
          <a:noFill/>
        </p:spPr>
        <p:txBody>
          <a:bodyPr wrap="square" lIns="0" tIns="0" rIns="0" bIns="0" anchor="ctr"/>
          <a:lstStyle/>
          <a:p>
            <a:pPr marL="0" indent="0">
              <a:buNone/>
            </a:pPr>
            <a:r>
              <a:rPr sz="1400">
                <a:solidFill>
                  <a:srgbClr val="1F2937"/>
                </a:solidFill>
              </a:rPr>
              <a:t>Owner signs in</a:t>
            </a:r>
            <a:endParaRPr sz="1400"/>
          </a:p>
        </p:txBody>
      </p:sp>
      <p:sp>
        <p:nvSpPr>
          <p:cNvPr id="10" name="Shape 8">
            <a:extLst>
              <a:ext uri="{FF2B5EF4-FFF2-40B4-BE49-F238E27FC236}">
                <a16:creationId xmlns:a16="http://schemas.microsoft.com/office/drawing/2014/main" xmlns="" id="{1D546A2C-5B02-48B8-8369-FFE521E71AE6}"/>
              </a:ext>
            </a:extLst>
          </p:cNvPr>
          <p:cNvSpPr>
            <a:spLocks noGrp="1"/>
          </p:cNvSpPr>
          <p:nvPr/>
        </p:nvSpPr>
        <p:spPr>
          <a:xfrm>
            <a:off x="548640" y="1673352"/>
            <a:ext cx="384048" cy="384048"/>
          </a:xfrm>
          <a:prstGeom prst="ellipse">
            <a:avLst/>
          </a:prstGeom>
          <a:solidFill>
            <a:srgbClr val="047857"/>
          </a:solidFill>
        </p:spPr>
        <p:txBody>
          <a:bodyPr/>
          <a:lstStyle/>
          <a:p>
            <a:endParaRPr/>
          </a:p>
        </p:txBody>
      </p:sp>
      <p:sp>
        <p:nvSpPr>
          <p:cNvPr id="11" name="Text 9">
            <a:extLst>
              <a:ext uri="{FF2B5EF4-FFF2-40B4-BE49-F238E27FC236}">
                <a16:creationId xmlns:a16="http://schemas.microsoft.com/office/drawing/2014/main" xmlns="" id="{3B3E1022-CD33-481D-A605-B8BC080CB679}"/>
              </a:ext>
            </a:extLst>
          </p:cNvPr>
          <p:cNvSpPr>
            <a:spLocks noGrp="1"/>
          </p:cNvSpPr>
          <p:nvPr/>
        </p:nvSpPr>
        <p:spPr>
          <a:xfrm>
            <a:off x="548640" y="1673352"/>
            <a:ext cx="384048" cy="384048"/>
          </a:xfrm>
          <a:prstGeom prst="rect">
            <a:avLst/>
          </a:prstGeom>
          <a:noFill/>
        </p:spPr>
        <p:txBody>
          <a:bodyPr wrap="square" lIns="0" tIns="0" rIns="0" bIns="0" anchor="ctr"/>
          <a:lstStyle/>
          <a:p>
            <a:pPr marL="0" indent="0" algn="ctr">
              <a:buNone/>
            </a:pPr>
            <a:r>
              <a:rPr sz="1400" b="1">
                <a:solidFill>
                  <a:srgbClr val="FFFFFF"/>
                </a:solidFill>
              </a:rPr>
              <a:t>2</a:t>
            </a:r>
            <a:endParaRPr sz="1400"/>
          </a:p>
        </p:txBody>
      </p:sp>
      <p:sp>
        <p:nvSpPr>
          <p:cNvPr id="12" name="Text 10">
            <a:extLst>
              <a:ext uri="{FF2B5EF4-FFF2-40B4-BE49-F238E27FC236}">
                <a16:creationId xmlns:a16="http://schemas.microsoft.com/office/drawing/2014/main" xmlns="" id="{31441F40-CB5B-47DD-BA80-F47473E01DE3}"/>
              </a:ext>
            </a:extLst>
          </p:cNvPr>
          <p:cNvSpPr>
            <a:spLocks noGrp="1"/>
          </p:cNvSpPr>
          <p:nvPr/>
        </p:nvSpPr>
        <p:spPr>
          <a:xfrm>
            <a:off x="1051560" y="1627632"/>
            <a:ext cx="2743200" cy="475488"/>
          </a:xfrm>
          <a:prstGeom prst="rect">
            <a:avLst/>
          </a:prstGeom>
          <a:noFill/>
        </p:spPr>
        <p:txBody>
          <a:bodyPr wrap="square" lIns="0" tIns="0" rIns="0" bIns="0" anchor="ctr"/>
          <a:lstStyle/>
          <a:p>
            <a:pPr marL="0" indent="0">
              <a:buNone/>
            </a:pPr>
            <a:r>
              <a:rPr sz="1400">
                <a:solidFill>
                  <a:srgbClr val="1F2937"/>
                </a:solidFill>
              </a:rPr>
              <a:t>Submit details and receive a reference</a:t>
            </a:r>
            <a:endParaRPr sz="1400"/>
          </a:p>
        </p:txBody>
      </p:sp>
      <p:sp>
        <p:nvSpPr>
          <p:cNvPr id="13" name="Shape 11">
            <a:extLst>
              <a:ext uri="{FF2B5EF4-FFF2-40B4-BE49-F238E27FC236}">
                <a16:creationId xmlns:a16="http://schemas.microsoft.com/office/drawing/2014/main" xmlns="" id="{F52B9D3A-EAB4-4F30-95E6-5EFEE286F5D9}"/>
              </a:ext>
            </a:extLst>
          </p:cNvPr>
          <p:cNvSpPr>
            <a:spLocks noGrp="1"/>
          </p:cNvSpPr>
          <p:nvPr/>
        </p:nvSpPr>
        <p:spPr>
          <a:xfrm>
            <a:off x="548640" y="2249424"/>
            <a:ext cx="384048" cy="384048"/>
          </a:xfrm>
          <a:prstGeom prst="ellipse">
            <a:avLst/>
          </a:prstGeom>
          <a:solidFill>
            <a:srgbClr val="047857"/>
          </a:solidFill>
        </p:spPr>
        <p:txBody>
          <a:bodyPr/>
          <a:lstStyle/>
          <a:p>
            <a:endParaRPr/>
          </a:p>
        </p:txBody>
      </p:sp>
      <p:sp>
        <p:nvSpPr>
          <p:cNvPr id="14" name="Text 12">
            <a:extLst>
              <a:ext uri="{FF2B5EF4-FFF2-40B4-BE49-F238E27FC236}">
                <a16:creationId xmlns:a16="http://schemas.microsoft.com/office/drawing/2014/main" xmlns="" id="{BE2E5DAB-7779-47CE-81FD-6DB3FB9F332C}"/>
              </a:ext>
            </a:extLst>
          </p:cNvPr>
          <p:cNvSpPr>
            <a:spLocks noGrp="1"/>
          </p:cNvSpPr>
          <p:nvPr/>
        </p:nvSpPr>
        <p:spPr>
          <a:xfrm>
            <a:off x="548640" y="2249424"/>
            <a:ext cx="384048" cy="384048"/>
          </a:xfrm>
          <a:prstGeom prst="rect">
            <a:avLst/>
          </a:prstGeom>
          <a:noFill/>
        </p:spPr>
        <p:txBody>
          <a:bodyPr wrap="square" lIns="0" tIns="0" rIns="0" bIns="0" anchor="ctr"/>
          <a:lstStyle/>
          <a:p>
            <a:pPr marL="0" indent="0" algn="ctr">
              <a:buNone/>
            </a:pPr>
            <a:r>
              <a:rPr sz="1400" b="1">
                <a:solidFill>
                  <a:srgbClr val="FFFFFF"/>
                </a:solidFill>
              </a:rPr>
              <a:t>3</a:t>
            </a:r>
            <a:endParaRPr sz="1400"/>
          </a:p>
        </p:txBody>
      </p:sp>
      <p:sp>
        <p:nvSpPr>
          <p:cNvPr id="15" name="Text 13">
            <a:extLst>
              <a:ext uri="{FF2B5EF4-FFF2-40B4-BE49-F238E27FC236}">
                <a16:creationId xmlns:a16="http://schemas.microsoft.com/office/drawing/2014/main" xmlns="" id="{0C54779D-4169-4D60-80DD-4558C8DE70C9}"/>
              </a:ext>
            </a:extLst>
          </p:cNvPr>
          <p:cNvSpPr>
            <a:spLocks noGrp="1"/>
          </p:cNvSpPr>
          <p:nvPr/>
        </p:nvSpPr>
        <p:spPr>
          <a:xfrm>
            <a:off x="1051560" y="2203704"/>
            <a:ext cx="2743200" cy="475488"/>
          </a:xfrm>
          <a:prstGeom prst="rect">
            <a:avLst/>
          </a:prstGeom>
          <a:noFill/>
        </p:spPr>
        <p:txBody>
          <a:bodyPr wrap="square" lIns="0" tIns="0" rIns="0" bIns="0" anchor="ctr"/>
          <a:lstStyle/>
          <a:p>
            <a:pPr marL="0" indent="0">
              <a:buNone/>
            </a:pPr>
            <a:r>
              <a:rPr sz="1400">
                <a:solidFill>
                  <a:srgbClr val="1F2937"/>
                </a:solidFill>
              </a:rPr>
              <a:t>RTO employee verifies the details</a:t>
            </a:r>
            <a:endParaRPr sz="1400"/>
          </a:p>
        </p:txBody>
      </p:sp>
      <p:sp>
        <p:nvSpPr>
          <p:cNvPr id="16" name="Shape 14">
            <a:extLst>
              <a:ext uri="{FF2B5EF4-FFF2-40B4-BE49-F238E27FC236}">
                <a16:creationId xmlns:a16="http://schemas.microsoft.com/office/drawing/2014/main" xmlns="" id="{55D476A4-729D-4E69-A07D-3BD78AF95E7A}"/>
              </a:ext>
            </a:extLst>
          </p:cNvPr>
          <p:cNvSpPr>
            <a:spLocks noGrp="1"/>
          </p:cNvSpPr>
          <p:nvPr/>
        </p:nvSpPr>
        <p:spPr>
          <a:xfrm>
            <a:off x="548640" y="2825496"/>
            <a:ext cx="384048" cy="384048"/>
          </a:xfrm>
          <a:prstGeom prst="ellipse">
            <a:avLst/>
          </a:prstGeom>
          <a:solidFill>
            <a:srgbClr val="047857"/>
          </a:solidFill>
        </p:spPr>
        <p:txBody>
          <a:bodyPr/>
          <a:lstStyle/>
          <a:p>
            <a:endParaRPr/>
          </a:p>
        </p:txBody>
      </p:sp>
      <p:sp>
        <p:nvSpPr>
          <p:cNvPr id="17" name="Text 15">
            <a:extLst>
              <a:ext uri="{FF2B5EF4-FFF2-40B4-BE49-F238E27FC236}">
                <a16:creationId xmlns:a16="http://schemas.microsoft.com/office/drawing/2014/main" xmlns="" id="{FA9139C1-9821-48B8-95BC-A3A8C52E5235}"/>
              </a:ext>
            </a:extLst>
          </p:cNvPr>
          <p:cNvSpPr>
            <a:spLocks noGrp="1"/>
          </p:cNvSpPr>
          <p:nvPr/>
        </p:nvSpPr>
        <p:spPr>
          <a:xfrm>
            <a:off x="548640" y="2825496"/>
            <a:ext cx="384048" cy="384048"/>
          </a:xfrm>
          <a:prstGeom prst="rect">
            <a:avLst/>
          </a:prstGeom>
          <a:noFill/>
        </p:spPr>
        <p:txBody>
          <a:bodyPr wrap="square" lIns="0" tIns="0" rIns="0" bIns="0" anchor="ctr"/>
          <a:lstStyle/>
          <a:p>
            <a:pPr marL="0" indent="0" algn="ctr">
              <a:buNone/>
            </a:pPr>
            <a:r>
              <a:rPr sz="1400" b="1">
                <a:solidFill>
                  <a:srgbClr val="FFFFFF"/>
                </a:solidFill>
              </a:rPr>
              <a:t>4</a:t>
            </a:r>
            <a:endParaRPr sz="1400"/>
          </a:p>
        </p:txBody>
      </p:sp>
      <p:sp>
        <p:nvSpPr>
          <p:cNvPr id="18" name="Text 16">
            <a:extLst>
              <a:ext uri="{FF2B5EF4-FFF2-40B4-BE49-F238E27FC236}">
                <a16:creationId xmlns:a16="http://schemas.microsoft.com/office/drawing/2014/main" xmlns="" id="{3E0EE7E9-DAEB-4681-8BAE-38F6FF808135}"/>
              </a:ext>
            </a:extLst>
          </p:cNvPr>
          <p:cNvSpPr>
            <a:spLocks noGrp="1"/>
          </p:cNvSpPr>
          <p:nvPr/>
        </p:nvSpPr>
        <p:spPr>
          <a:xfrm>
            <a:off x="1051560" y="2779776"/>
            <a:ext cx="2743200" cy="475488"/>
          </a:xfrm>
          <a:prstGeom prst="rect">
            <a:avLst/>
          </a:prstGeom>
          <a:noFill/>
        </p:spPr>
        <p:txBody>
          <a:bodyPr wrap="square" lIns="0" tIns="0" rIns="0" bIns="0" anchor="ctr"/>
          <a:lstStyle/>
          <a:p>
            <a:pPr marL="0" indent="0">
              <a:buNone/>
            </a:pPr>
            <a:r>
              <a:rPr sz="1400">
                <a:solidFill>
                  <a:srgbClr val="1F2937"/>
                </a:solidFill>
              </a:rPr>
              <a:t>Owner completes simulated payment</a:t>
            </a:r>
            <a:endParaRPr sz="1400"/>
          </a:p>
        </p:txBody>
      </p:sp>
      <p:sp>
        <p:nvSpPr>
          <p:cNvPr id="19" name="Shape 17">
            <a:extLst>
              <a:ext uri="{FF2B5EF4-FFF2-40B4-BE49-F238E27FC236}">
                <a16:creationId xmlns:a16="http://schemas.microsoft.com/office/drawing/2014/main" xmlns="" id="{B979ED5D-88F2-4916-A074-EF310ABECC75}"/>
              </a:ext>
            </a:extLst>
          </p:cNvPr>
          <p:cNvSpPr>
            <a:spLocks noGrp="1"/>
          </p:cNvSpPr>
          <p:nvPr/>
        </p:nvSpPr>
        <p:spPr>
          <a:xfrm>
            <a:off x="548640" y="3401568"/>
            <a:ext cx="384048" cy="384048"/>
          </a:xfrm>
          <a:prstGeom prst="ellipse">
            <a:avLst/>
          </a:prstGeom>
          <a:solidFill>
            <a:srgbClr val="047857"/>
          </a:solidFill>
        </p:spPr>
        <p:txBody>
          <a:bodyPr/>
          <a:lstStyle/>
          <a:p>
            <a:endParaRPr/>
          </a:p>
        </p:txBody>
      </p:sp>
      <p:sp>
        <p:nvSpPr>
          <p:cNvPr id="20" name="Text 18">
            <a:extLst>
              <a:ext uri="{FF2B5EF4-FFF2-40B4-BE49-F238E27FC236}">
                <a16:creationId xmlns:a16="http://schemas.microsoft.com/office/drawing/2014/main" xmlns="" id="{9048B5B1-31E0-45D2-A14E-9458D4977271}"/>
              </a:ext>
            </a:extLst>
          </p:cNvPr>
          <p:cNvSpPr>
            <a:spLocks noGrp="1"/>
          </p:cNvSpPr>
          <p:nvPr/>
        </p:nvSpPr>
        <p:spPr>
          <a:xfrm>
            <a:off x="548640" y="3401568"/>
            <a:ext cx="384048" cy="384048"/>
          </a:xfrm>
          <a:prstGeom prst="rect">
            <a:avLst/>
          </a:prstGeom>
          <a:noFill/>
        </p:spPr>
        <p:txBody>
          <a:bodyPr wrap="square" lIns="0" tIns="0" rIns="0" bIns="0" anchor="ctr"/>
          <a:lstStyle/>
          <a:p>
            <a:pPr marL="0" indent="0" algn="ctr">
              <a:buNone/>
            </a:pPr>
            <a:r>
              <a:rPr sz="1400" b="1">
                <a:solidFill>
                  <a:srgbClr val="FFFFFF"/>
                </a:solidFill>
              </a:rPr>
              <a:t>5</a:t>
            </a:r>
            <a:endParaRPr sz="1400"/>
          </a:p>
        </p:txBody>
      </p:sp>
      <p:sp>
        <p:nvSpPr>
          <p:cNvPr id="21" name="Text 19">
            <a:extLst>
              <a:ext uri="{FF2B5EF4-FFF2-40B4-BE49-F238E27FC236}">
                <a16:creationId xmlns:a16="http://schemas.microsoft.com/office/drawing/2014/main" xmlns="" id="{122580A7-8624-4BE5-A4F8-284E83682D67}"/>
              </a:ext>
            </a:extLst>
          </p:cNvPr>
          <p:cNvSpPr>
            <a:spLocks noGrp="1"/>
          </p:cNvSpPr>
          <p:nvPr/>
        </p:nvSpPr>
        <p:spPr>
          <a:xfrm>
            <a:off x="1051560" y="3355848"/>
            <a:ext cx="2743200" cy="475488"/>
          </a:xfrm>
          <a:prstGeom prst="rect">
            <a:avLst/>
          </a:prstGeom>
          <a:noFill/>
        </p:spPr>
        <p:txBody>
          <a:bodyPr wrap="square" lIns="0" tIns="0" rIns="0" bIns="0" anchor="ctr"/>
          <a:lstStyle/>
          <a:p>
            <a:pPr marL="0" indent="0">
              <a:buNone/>
            </a:pPr>
            <a:r>
              <a:rPr sz="1400">
                <a:solidFill>
                  <a:srgbClr val="1F2937"/>
                </a:solidFill>
              </a:rPr>
              <a:t>Employee records a passed inspection</a:t>
            </a:r>
            <a:endParaRPr sz="1400"/>
          </a:p>
        </p:txBody>
      </p:sp>
      <p:sp>
        <p:nvSpPr>
          <p:cNvPr id="22" name="Shape 20">
            <a:extLst>
              <a:ext uri="{FF2B5EF4-FFF2-40B4-BE49-F238E27FC236}">
                <a16:creationId xmlns:a16="http://schemas.microsoft.com/office/drawing/2014/main" xmlns="" id="{10C92D18-1FF3-402D-B1FF-78F470F270EE}"/>
              </a:ext>
            </a:extLst>
          </p:cNvPr>
          <p:cNvSpPr>
            <a:spLocks noGrp="1"/>
          </p:cNvSpPr>
          <p:nvPr/>
        </p:nvSpPr>
        <p:spPr>
          <a:xfrm>
            <a:off x="548640" y="3977640"/>
            <a:ext cx="384048" cy="384048"/>
          </a:xfrm>
          <a:prstGeom prst="ellipse">
            <a:avLst/>
          </a:prstGeom>
          <a:solidFill>
            <a:srgbClr val="047857"/>
          </a:solidFill>
        </p:spPr>
        <p:txBody>
          <a:bodyPr/>
          <a:lstStyle/>
          <a:p>
            <a:endParaRPr/>
          </a:p>
        </p:txBody>
      </p:sp>
      <p:sp>
        <p:nvSpPr>
          <p:cNvPr id="23" name="Text 21">
            <a:extLst>
              <a:ext uri="{FF2B5EF4-FFF2-40B4-BE49-F238E27FC236}">
                <a16:creationId xmlns:a16="http://schemas.microsoft.com/office/drawing/2014/main" xmlns="" id="{A1BD1B8B-EA4D-459D-88AF-A0B44DF8617F}"/>
              </a:ext>
            </a:extLst>
          </p:cNvPr>
          <p:cNvSpPr>
            <a:spLocks noGrp="1"/>
          </p:cNvSpPr>
          <p:nvPr/>
        </p:nvSpPr>
        <p:spPr>
          <a:xfrm>
            <a:off x="548640" y="3977640"/>
            <a:ext cx="384048" cy="384048"/>
          </a:xfrm>
          <a:prstGeom prst="rect">
            <a:avLst/>
          </a:prstGeom>
          <a:noFill/>
        </p:spPr>
        <p:txBody>
          <a:bodyPr wrap="square" lIns="0" tIns="0" rIns="0" bIns="0" anchor="ctr"/>
          <a:lstStyle/>
          <a:p>
            <a:pPr marL="0" indent="0" algn="ctr">
              <a:buNone/>
            </a:pPr>
            <a:r>
              <a:rPr sz="1400" b="1">
                <a:solidFill>
                  <a:srgbClr val="FFFFFF"/>
                </a:solidFill>
              </a:rPr>
              <a:t>6</a:t>
            </a:r>
            <a:endParaRPr sz="1400"/>
          </a:p>
        </p:txBody>
      </p:sp>
      <p:sp>
        <p:nvSpPr>
          <p:cNvPr id="24" name="Text 22">
            <a:extLst>
              <a:ext uri="{FF2B5EF4-FFF2-40B4-BE49-F238E27FC236}">
                <a16:creationId xmlns:a16="http://schemas.microsoft.com/office/drawing/2014/main" xmlns="" id="{048518A0-9749-45A0-BFDF-22A77C5A1721}"/>
              </a:ext>
            </a:extLst>
          </p:cNvPr>
          <p:cNvSpPr>
            <a:spLocks noGrp="1"/>
          </p:cNvSpPr>
          <p:nvPr/>
        </p:nvSpPr>
        <p:spPr>
          <a:xfrm>
            <a:off x="1051560" y="3931920"/>
            <a:ext cx="2743200" cy="475488"/>
          </a:xfrm>
          <a:prstGeom prst="rect">
            <a:avLst/>
          </a:prstGeom>
          <a:noFill/>
        </p:spPr>
        <p:txBody>
          <a:bodyPr wrap="square" lIns="0" tIns="0" rIns="0" bIns="0" anchor="ctr"/>
          <a:lstStyle/>
          <a:p>
            <a:pPr marL="0" indent="0">
              <a:buNone/>
            </a:pPr>
            <a:r>
              <a:rPr sz="1400">
                <a:solidFill>
                  <a:srgbClr val="1F2937"/>
                </a:solidFill>
              </a:rPr>
              <a:t>Approval generates the RC number</a:t>
            </a:r>
            <a:endParaRPr sz="1400"/>
          </a:p>
        </p:txBody>
      </p:sp>
      <p:pic>
        <p:nvPicPr>
          <p:cNvPr id="25" name="Image 0">
            <a:extLst>
              <a:ext uri="{FF2B5EF4-FFF2-40B4-BE49-F238E27FC236}">
                <a16:creationId xmlns:a16="http://schemas.microsoft.com/office/drawing/2014/main" xmlns="" id="{F43A3C61-35A3-4484-BF53-1ADD4ADAC14B}"/>
              </a:ext>
            </a:extLst>
          </p:cNvPr>
          <p:cNvPicPr>
            <a:picLocks noChangeAspect="1"/>
          </p:cNvPicPr>
          <p:nvPr/>
        </p:nvPicPr>
        <p:blipFill>
          <a:blip r:embed="rId3"/>
          <a:srcRect/>
          <a:stretch/>
        </p:blipFill>
        <p:spPr>
          <a:xfrm>
            <a:off x="4023360" y="1097280"/>
            <a:ext cx="4572000" cy="2569464"/>
          </a:xfrm>
          <a:prstGeom prst="rect">
            <a:avLst/>
          </a:prstGeom>
        </p:spPr>
      </p:pic>
      <p:sp>
        <p:nvSpPr>
          <p:cNvPr id="26" name="Shape 23">
            <a:extLst>
              <a:ext uri="{FF2B5EF4-FFF2-40B4-BE49-F238E27FC236}">
                <a16:creationId xmlns:a16="http://schemas.microsoft.com/office/drawing/2014/main" xmlns="" id="{0D18F60C-B1BF-4D4D-8A55-EA57B51C570C}"/>
              </a:ext>
            </a:extLst>
          </p:cNvPr>
          <p:cNvSpPr>
            <a:spLocks noGrp="1"/>
          </p:cNvSpPr>
          <p:nvPr/>
        </p:nvSpPr>
        <p:spPr>
          <a:xfrm>
            <a:off x="4023360" y="1097280"/>
            <a:ext cx="4572000" cy="2569464"/>
          </a:xfrm>
          <a:prstGeom prst="rect">
            <a:avLst/>
          </a:prstGeom>
          <a:ln w="12700">
            <a:solidFill>
              <a:srgbClr val="A7F3D0"/>
            </a:solidFill>
            <a:prstDash val="solid"/>
          </a:ln>
        </p:spPr>
        <p:txBody>
          <a:bodyPr/>
          <a:lstStyle/>
          <a:p>
            <a:endParaRPr/>
          </a:p>
        </p:txBody>
      </p:sp>
      <p:sp>
        <p:nvSpPr>
          <p:cNvPr id="27" name="Text 24">
            <a:extLst>
              <a:ext uri="{FF2B5EF4-FFF2-40B4-BE49-F238E27FC236}">
                <a16:creationId xmlns:a16="http://schemas.microsoft.com/office/drawing/2014/main" xmlns="" id="{6049E900-73B8-4980-93FD-C91A93594F0B}"/>
              </a:ext>
            </a:extLst>
          </p:cNvPr>
          <p:cNvSpPr>
            <a:spLocks noGrp="1"/>
          </p:cNvSpPr>
          <p:nvPr/>
        </p:nvSpPr>
        <p:spPr>
          <a:xfrm>
            <a:off x="4023360" y="3749040"/>
            <a:ext cx="4572000" cy="274320"/>
          </a:xfrm>
          <a:prstGeom prst="rect">
            <a:avLst/>
          </a:prstGeom>
          <a:noFill/>
        </p:spPr>
        <p:txBody>
          <a:bodyPr wrap="square" lIns="0" tIns="0" rIns="0" bIns="0" anchor="ctr"/>
          <a:lstStyle/>
          <a:p>
            <a:pPr marL="0" indent="0" algn="ctr">
              <a:buNone/>
            </a:pPr>
            <a:r>
              <a:rPr sz="1200" i="1">
                <a:solidFill>
                  <a:srgbClr val="6B7280"/>
                </a:solidFill>
              </a:rPr>
              <a:t>New vehicle registration form</a:t>
            </a:r>
            <a:endParaRPr sz="1200"/>
          </a:p>
        </p:txBody>
      </p:sp>
    </p:spTree>
    <p:extLst>
      <p:ext uri="{BB962C8B-B14F-4D97-AF65-F5344CB8AC3E}">
        <p14:creationId xmlns:p14="http://schemas.microsoft.com/office/powerpoint/2010/main" val="1190090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0F1C4EC0-7875-461C-8430-EFB0E7371309}"/>
              </a:ext>
            </a:extLst>
          </p:cNvPr>
          <p:cNvSpPr>
            <a:spLocks noGrp="1"/>
          </p:cNvSpPr>
          <p:nvPr/>
        </p:nvSpPr>
        <p:spPr>
          <a:xfrm>
            <a:off x="0" y="0"/>
            <a:ext cx="164592" cy="5143500"/>
          </a:xfrm>
          <a:prstGeom prst="rect">
            <a:avLst/>
          </a:prstGeom>
          <a:solidFill>
            <a:srgbClr val="047857"/>
          </a:solidFill>
        </p:spPr>
        <p:txBody>
          <a:bodyPr/>
          <a:lstStyle/>
          <a:p>
            <a:endParaRPr/>
          </a:p>
        </p:txBody>
      </p:sp>
      <p:sp>
        <p:nvSpPr>
          <p:cNvPr id="3" name="Text 1">
            <a:extLst>
              <a:ext uri="{FF2B5EF4-FFF2-40B4-BE49-F238E27FC236}">
                <a16:creationId xmlns:a16="http://schemas.microsoft.com/office/drawing/2014/main" xmlns="" id="{7141E91B-C1D2-45BA-8A41-6767F6C8576F}"/>
              </a:ext>
            </a:extLst>
          </p:cNvPr>
          <p:cNvSpPr>
            <a:spLocks noGrp="1"/>
          </p:cNvSpPr>
          <p:nvPr/>
        </p:nvSpPr>
        <p:spPr>
          <a:xfrm>
            <a:off x="548640" y="274320"/>
            <a:ext cx="8046720" cy="548640"/>
          </a:xfrm>
          <a:prstGeom prst="rect">
            <a:avLst/>
          </a:prstGeom>
          <a:noFill/>
        </p:spPr>
        <p:txBody>
          <a:bodyPr wrap="square" lIns="0" tIns="0" rIns="0" bIns="0" anchor="ctr"/>
          <a:lstStyle/>
          <a:p>
            <a:pPr marL="0" indent="0">
              <a:buNone/>
            </a:pPr>
            <a:r>
              <a:rPr sz="2800" b="1">
                <a:solidFill>
                  <a:srgbClr val="047857"/>
                </a:solidFill>
              </a:rPr>
              <a:t>Future scope</a:t>
            </a:r>
            <a:endParaRPr sz="2800"/>
          </a:p>
        </p:txBody>
      </p:sp>
      <p:sp>
        <p:nvSpPr>
          <p:cNvPr id="4" name="Shape 2">
            <a:extLst>
              <a:ext uri="{FF2B5EF4-FFF2-40B4-BE49-F238E27FC236}">
                <a16:creationId xmlns:a16="http://schemas.microsoft.com/office/drawing/2014/main" xmlns="" id="{708C1394-C74F-4380-BCD3-CC5ABE8E47DA}"/>
              </a:ext>
            </a:extLst>
          </p:cNvPr>
          <p:cNvSpPr>
            <a:spLocks noGrp="1"/>
          </p:cNvSpPr>
          <p:nvPr/>
        </p:nvSpPr>
        <p:spPr>
          <a:xfrm>
            <a:off x="548640" y="868680"/>
            <a:ext cx="1097280" cy="0"/>
          </a:xfrm>
          <a:prstGeom prst="line">
            <a:avLst/>
          </a:prstGeom>
          <a:noFill/>
          <a:ln w="38100">
            <a:solidFill>
              <a:srgbClr val="34D399"/>
            </a:solidFill>
            <a:prstDash val="solid"/>
          </a:ln>
        </p:spPr>
        <p:txBody>
          <a:bodyPr/>
          <a:lstStyle/>
          <a:p>
            <a:endParaRPr/>
          </a:p>
        </p:txBody>
      </p:sp>
      <p:sp>
        <p:nvSpPr>
          <p:cNvPr id="5" name="Text 3">
            <a:extLst>
              <a:ext uri="{FF2B5EF4-FFF2-40B4-BE49-F238E27FC236}">
                <a16:creationId xmlns:a16="http://schemas.microsoft.com/office/drawing/2014/main" xmlns="" id="{847B7F57-27F2-4BD1-BE12-17AF18ECAE9F}"/>
              </a:ext>
            </a:extLst>
          </p:cNvPr>
          <p:cNvSpPr>
            <a:spLocks noGrp="1"/>
          </p:cNvSpPr>
          <p:nvPr/>
        </p:nvSpPr>
        <p:spPr>
          <a:xfrm>
            <a:off x="548640" y="4754880"/>
            <a:ext cx="4572000" cy="274320"/>
          </a:xfrm>
          <a:prstGeom prst="rect">
            <a:avLst/>
          </a:prstGeom>
          <a:noFill/>
        </p:spPr>
        <p:txBody>
          <a:bodyPr wrap="square" lIns="0" tIns="0" rIns="0" bIns="0" anchor="ctr"/>
          <a:lstStyle/>
          <a:p>
            <a:pPr marL="0" indent="0">
              <a:buNone/>
            </a:pPr>
            <a:r>
              <a:rPr sz="1100">
                <a:solidFill>
                  <a:srgbClr val="6B7280"/>
                </a:solidFill>
              </a:rPr>
              <a:t>Vehicle Registration System</a:t>
            </a:r>
            <a:endParaRPr sz="1100"/>
          </a:p>
        </p:txBody>
      </p:sp>
      <p:sp>
        <p:nvSpPr>
          <p:cNvPr id="6" name="Text 4">
            <a:extLst>
              <a:ext uri="{FF2B5EF4-FFF2-40B4-BE49-F238E27FC236}">
                <a16:creationId xmlns:a16="http://schemas.microsoft.com/office/drawing/2014/main" xmlns="" id="{CCEC023F-67E6-43EB-80B1-463833B733ED}"/>
              </a:ext>
            </a:extLst>
          </p:cNvPr>
          <p:cNvSpPr>
            <a:spLocks noGrp="1"/>
          </p:cNvSpPr>
          <p:nvPr/>
        </p:nvSpPr>
        <p:spPr>
          <a:xfrm>
            <a:off x="8229600" y="4754880"/>
            <a:ext cx="457200" cy="274320"/>
          </a:xfrm>
          <a:prstGeom prst="rect">
            <a:avLst/>
          </a:prstGeom>
          <a:noFill/>
        </p:spPr>
        <p:txBody>
          <a:bodyPr wrap="square" lIns="0" tIns="0" rIns="0" bIns="0" anchor="ctr"/>
          <a:lstStyle/>
          <a:p>
            <a:pPr marL="0" indent="0" algn="r">
              <a:buNone/>
            </a:pPr>
            <a:r>
              <a:rPr sz="1100">
                <a:solidFill>
                  <a:srgbClr val="6B7280"/>
                </a:solidFill>
              </a:rPr>
              <a:t>9</a:t>
            </a:r>
            <a:endParaRPr sz="1100"/>
          </a:p>
        </p:txBody>
      </p:sp>
      <p:sp>
        <p:nvSpPr>
          <p:cNvPr id="7" name="Shape 5">
            <a:extLst>
              <a:ext uri="{FF2B5EF4-FFF2-40B4-BE49-F238E27FC236}">
                <a16:creationId xmlns:a16="http://schemas.microsoft.com/office/drawing/2014/main" xmlns="" id="{A8E9F4D6-E963-44BE-B23B-BB8525B2D6AE}"/>
              </a:ext>
            </a:extLst>
          </p:cNvPr>
          <p:cNvSpPr>
            <a:spLocks noGrp="1"/>
          </p:cNvSpPr>
          <p:nvPr/>
        </p:nvSpPr>
        <p:spPr>
          <a:xfrm>
            <a:off x="548640" y="1097280"/>
            <a:ext cx="3931920" cy="3017520"/>
          </a:xfrm>
          <a:prstGeom prst="roundRect">
            <a:avLst>
              <a:gd name="adj" fmla="val 2424"/>
            </a:avLst>
          </a:prstGeom>
          <a:solidFill>
            <a:srgbClr val="ECFDF5"/>
          </a:solidFill>
          <a:ln w="12700">
            <a:solidFill>
              <a:srgbClr val="A7F3D0"/>
            </a:solidFill>
            <a:prstDash val="solid"/>
          </a:ln>
        </p:spPr>
        <p:txBody>
          <a:bodyPr/>
          <a:lstStyle/>
          <a:p>
            <a:endParaRPr/>
          </a:p>
        </p:txBody>
      </p:sp>
      <p:sp>
        <p:nvSpPr>
          <p:cNvPr id="8" name="Text 6">
            <a:extLst>
              <a:ext uri="{FF2B5EF4-FFF2-40B4-BE49-F238E27FC236}">
                <a16:creationId xmlns:a16="http://schemas.microsoft.com/office/drawing/2014/main" xmlns="" id="{11C7027A-5370-41CF-B363-87B19091F037}"/>
              </a:ext>
            </a:extLst>
          </p:cNvPr>
          <p:cNvSpPr>
            <a:spLocks noGrp="1"/>
          </p:cNvSpPr>
          <p:nvPr/>
        </p:nvSpPr>
        <p:spPr>
          <a:xfrm>
            <a:off x="731520" y="1207008"/>
            <a:ext cx="3566160" cy="365760"/>
          </a:xfrm>
          <a:prstGeom prst="rect">
            <a:avLst/>
          </a:prstGeom>
          <a:noFill/>
        </p:spPr>
        <p:txBody>
          <a:bodyPr wrap="square" lIns="0" tIns="0" rIns="0" bIns="0" anchor="ctr"/>
          <a:lstStyle/>
          <a:p>
            <a:pPr marL="0" indent="0">
              <a:buNone/>
            </a:pPr>
            <a:r>
              <a:rPr sz="1700" b="1">
                <a:solidFill>
                  <a:srgbClr val="047857"/>
                </a:solidFill>
              </a:rPr>
              <a:t>Vehicle services</a:t>
            </a:r>
            <a:endParaRPr sz="1700"/>
          </a:p>
        </p:txBody>
      </p:sp>
      <p:sp>
        <p:nvSpPr>
          <p:cNvPr id="9" name="Text 7">
            <a:extLst>
              <a:ext uri="{FF2B5EF4-FFF2-40B4-BE49-F238E27FC236}">
                <a16:creationId xmlns:a16="http://schemas.microsoft.com/office/drawing/2014/main" xmlns="" id="{E183DB0C-F869-40A7-9E51-59C145D691B2}"/>
              </a:ext>
            </a:extLst>
          </p:cNvPr>
          <p:cNvSpPr>
            <a:spLocks noGrp="1"/>
          </p:cNvSpPr>
          <p:nvPr/>
        </p:nvSpPr>
        <p:spPr>
          <a:xfrm>
            <a:off x="731520" y="1627632"/>
            <a:ext cx="3566160" cy="2377440"/>
          </a:xfrm>
          <a:prstGeom prst="rect">
            <a:avLst/>
          </a:prstGeom>
          <a:noFill/>
        </p:spPr>
        <p:txBody>
          <a:bodyPr wrap="square" lIns="0" tIns="0" rIns="0" bIns="0" anchor="t"/>
          <a:lstStyle/>
          <a:p>
            <a:pPr marL="342900" indent="-342900">
              <a:spcAft>
                <a:spcPts val="600"/>
              </a:spcAft>
              <a:buSzPct val="100000"/>
              <a:buChar char="•"/>
            </a:pPr>
            <a:r>
              <a:rPr sz="1400">
                <a:solidFill>
                  <a:srgbClr val="1F2937"/>
                </a:solidFill>
              </a:rPr>
              <a:t>Vehicle registration renewal</a:t>
            </a:r>
            <a:endParaRPr sz="1400"/>
          </a:p>
          <a:p>
            <a:pPr marL="342900" indent="-342900">
              <a:spcAft>
                <a:spcPts val="600"/>
              </a:spcAft>
              <a:buSzPct val="100000"/>
              <a:buChar char="•"/>
            </a:pPr>
            <a:r>
              <a:rPr sz="1400">
                <a:solidFill>
                  <a:srgbClr val="1F2937"/>
                </a:solidFill>
              </a:rPr>
              <a:t>Ownership transfer workflow</a:t>
            </a:r>
          </a:p>
          <a:p>
            <a:pPr marL="342900" indent="-342900">
              <a:spcAft>
                <a:spcPts val="600"/>
              </a:spcAft>
              <a:buSzPct val="100000"/>
              <a:buChar char="•"/>
            </a:pPr>
            <a:r>
              <a:rPr sz="1400">
                <a:solidFill>
                  <a:srgbClr val="1F2937"/>
                </a:solidFill>
              </a:rPr>
              <a:t>Document upload and download</a:t>
            </a:r>
          </a:p>
        </p:txBody>
      </p:sp>
      <p:sp>
        <p:nvSpPr>
          <p:cNvPr id="10" name="Shape 8">
            <a:extLst>
              <a:ext uri="{FF2B5EF4-FFF2-40B4-BE49-F238E27FC236}">
                <a16:creationId xmlns:a16="http://schemas.microsoft.com/office/drawing/2014/main" xmlns="" id="{DBD6F123-E65A-4B15-BDE5-95C70E10B73B}"/>
              </a:ext>
            </a:extLst>
          </p:cNvPr>
          <p:cNvSpPr>
            <a:spLocks noGrp="1"/>
          </p:cNvSpPr>
          <p:nvPr/>
        </p:nvSpPr>
        <p:spPr>
          <a:xfrm>
            <a:off x="4663440" y="1097280"/>
            <a:ext cx="3931920" cy="3017520"/>
          </a:xfrm>
          <a:prstGeom prst="roundRect">
            <a:avLst>
              <a:gd name="adj" fmla="val 2424"/>
            </a:avLst>
          </a:prstGeom>
          <a:solidFill>
            <a:srgbClr val="ECFDF5"/>
          </a:solidFill>
          <a:ln w="12700">
            <a:solidFill>
              <a:srgbClr val="A7F3D0"/>
            </a:solidFill>
            <a:prstDash val="solid"/>
          </a:ln>
        </p:spPr>
        <p:txBody>
          <a:bodyPr/>
          <a:lstStyle/>
          <a:p>
            <a:endParaRPr/>
          </a:p>
        </p:txBody>
      </p:sp>
      <p:sp>
        <p:nvSpPr>
          <p:cNvPr id="11" name="Text 9">
            <a:extLst>
              <a:ext uri="{FF2B5EF4-FFF2-40B4-BE49-F238E27FC236}">
                <a16:creationId xmlns:a16="http://schemas.microsoft.com/office/drawing/2014/main" xmlns="" id="{1D690E08-329F-4562-8700-5B6B01630653}"/>
              </a:ext>
            </a:extLst>
          </p:cNvPr>
          <p:cNvSpPr>
            <a:spLocks noGrp="1"/>
          </p:cNvSpPr>
          <p:nvPr/>
        </p:nvSpPr>
        <p:spPr>
          <a:xfrm>
            <a:off x="4846320" y="1207008"/>
            <a:ext cx="3566160" cy="365760"/>
          </a:xfrm>
          <a:prstGeom prst="rect">
            <a:avLst/>
          </a:prstGeom>
          <a:noFill/>
        </p:spPr>
        <p:txBody>
          <a:bodyPr wrap="square" lIns="0" tIns="0" rIns="0" bIns="0" anchor="ctr"/>
          <a:lstStyle/>
          <a:p>
            <a:pPr marL="0" indent="0">
              <a:buNone/>
            </a:pPr>
            <a:r>
              <a:rPr sz="1700" b="1">
                <a:solidFill>
                  <a:srgbClr val="047857"/>
                </a:solidFill>
              </a:rPr>
              <a:t>Platform improvements</a:t>
            </a:r>
            <a:endParaRPr sz="1700"/>
          </a:p>
        </p:txBody>
      </p:sp>
      <p:sp>
        <p:nvSpPr>
          <p:cNvPr id="12" name="Text 10">
            <a:extLst>
              <a:ext uri="{FF2B5EF4-FFF2-40B4-BE49-F238E27FC236}">
                <a16:creationId xmlns:a16="http://schemas.microsoft.com/office/drawing/2014/main" xmlns="" id="{047A7D4F-92A5-4E2B-B4D6-97AB60FE37F1}"/>
              </a:ext>
            </a:extLst>
          </p:cNvPr>
          <p:cNvSpPr>
            <a:spLocks noGrp="1"/>
          </p:cNvSpPr>
          <p:nvPr/>
        </p:nvSpPr>
        <p:spPr>
          <a:xfrm>
            <a:off x="4846320" y="1627632"/>
            <a:ext cx="3566160" cy="2377440"/>
          </a:xfrm>
          <a:prstGeom prst="rect">
            <a:avLst/>
          </a:prstGeom>
          <a:noFill/>
        </p:spPr>
        <p:txBody>
          <a:bodyPr wrap="square" lIns="0" tIns="0" rIns="0" bIns="0" anchor="t"/>
          <a:lstStyle/>
          <a:p>
            <a:pPr marL="342900" indent="-342900">
              <a:spcAft>
                <a:spcPts val="600"/>
              </a:spcAft>
              <a:buSzPct val="100000"/>
              <a:buChar char="•"/>
            </a:pPr>
            <a:r>
              <a:rPr sz="1400">
                <a:solidFill>
                  <a:srgbClr val="1F2937"/>
                </a:solidFill>
              </a:rPr>
              <a:t>Payment gateway integration</a:t>
            </a:r>
            <a:endParaRPr sz="1400"/>
          </a:p>
          <a:p>
            <a:pPr marL="342900" indent="-342900">
              <a:spcAft>
                <a:spcPts val="600"/>
              </a:spcAft>
              <a:buSzPct val="100000"/>
              <a:buChar char="•"/>
            </a:pPr>
            <a:r>
              <a:rPr sz="1400">
                <a:solidFill>
                  <a:srgbClr val="1F2937"/>
                </a:solidFill>
              </a:rPr>
              <a:t>Backend role authorization</a:t>
            </a:r>
          </a:p>
          <a:p>
            <a:pPr marL="342900" indent="-342900">
              <a:spcAft>
                <a:spcPts val="600"/>
              </a:spcAft>
              <a:buSzPct val="100000"/>
              <a:buChar char="•"/>
            </a:pPr>
            <a:r>
              <a:rPr sz="1400">
                <a:solidFill>
                  <a:srgbClr val="1F2937"/>
                </a:solidFill>
              </a:rPr>
              <a:t>Cloud deployment</a:t>
            </a:r>
          </a:p>
        </p:txBody>
      </p:sp>
      <p:sp>
        <p:nvSpPr>
          <p:cNvPr id="13" name="Text 11">
            <a:extLst>
              <a:ext uri="{FF2B5EF4-FFF2-40B4-BE49-F238E27FC236}">
                <a16:creationId xmlns:a16="http://schemas.microsoft.com/office/drawing/2014/main" xmlns="" id="{0146F4BB-9875-4329-945F-D16CAA6F90A2}"/>
              </a:ext>
            </a:extLst>
          </p:cNvPr>
          <p:cNvSpPr>
            <a:spLocks noGrp="1"/>
          </p:cNvSpPr>
          <p:nvPr/>
        </p:nvSpPr>
        <p:spPr>
          <a:xfrm>
            <a:off x="548640" y="4206240"/>
            <a:ext cx="8046720" cy="457200"/>
          </a:xfrm>
          <a:prstGeom prst="rect">
            <a:avLst/>
          </a:prstGeom>
          <a:noFill/>
        </p:spPr>
        <p:txBody>
          <a:bodyPr wrap="square" lIns="0" tIns="0" rIns="0" bIns="0" anchor="ctr"/>
          <a:lstStyle/>
          <a:p>
            <a:pPr marL="0" indent="0" algn="ctr">
              <a:buNone/>
            </a:pPr>
            <a:r>
              <a:rPr sz="2200" b="1">
                <a:solidFill>
                  <a:srgbClr val="047857"/>
                </a:solidFill>
              </a:rPr>
              <a:t>Thank you!</a:t>
            </a:r>
            <a:endParaRPr sz="2200"/>
          </a:p>
        </p:txBody>
      </p:sp>
    </p:spTree>
    <p:extLst>
      <p:ext uri="{BB962C8B-B14F-4D97-AF65-F5344CB8AC3E}">
        <p14:creationId xmlns:p14="http://schemas.microsoft.com/office/powerpoint/2010/main" val="4867442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868</Words>
  <Application>Microsoft Office PowerPoint</Application>
  <DocSecurity>0</DocSecurity>
  <PresentationFormat>On-screen Show (16:9)</PresentationFormat>
  <Paragraphs>182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Microsoft account</cp:lastModifiedBy>
  <cp:revision>5</cp:revision>
  <dcterms:created xsi:type="dcterms:W3CDTF">2026-10-08T09:30:02Z</dcterms:created>
  <dcterms:modified xsi:type="dcterms:W3CDTF">2026-10-08T09:35:34Z</dcterms:modified>
</cp:coreProperties>
</file>